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362" r:id="rId3"/>
    <p:sldId id="363" r:id="rId4"/>
    <p:sldId id="364" r:id="rId5"/>
    <p:sldId id="365" r:id="rId6"/>
    <p:sldId id="301" r:id="rId7"/>
    <p:sldId id="333" r:id="rId8"/>
    <p:sldId id="334" r:id="rId9"/>
    <p:sldId id="336" r:id="rId10"/>
    <p:sldId id="337" r:id="rId11"/>
    <p:sldId id="339" r:id="rId12"/>
    <p:sldId id="340" r:id="rId13"/>
    <p:sldId id="335" r:id="rId14"/>
    <p:sldId id="285" r:id="rId15"/>
    <p:sldId id="368" r:id="rId16"/>
    <p:sldId id="277" r:id="rId17"/>
    <p:sldId id="278" r:id="rId18"/>
    <p:sldId id="263" r:id="rId19"/>
    <p:sldId id="265" r:id="rId20"/>
    <p:sldId id="276" r:id="rId21"/>
    <p:sldId id="267" r:id="rId22"/>
    <p:sldId id="366" r:id="rId23"/>
    <p:sldId id="367" r:id="rId24"/>
    <p:sldId id="279" r:id="rId25"/>
    <p:sldId id="281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2">
          <p15:clr>
            <a:srgbClr val="A4A3A4"/>
          </p15:clr>
        </p15:guide>
        <p15:guide id="2" pos="38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636" y="114"/>
      </p:cViewPr>
      <p:guideLst>
        <p:guide orient="horz" pos="2102"/>
        <p:guide pos="38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56CBD-69C8-4EE0-A134-F9B3D4590783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53860-41EE-41B6-A393-957165903E9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53860-41EE-41B6-A393-957165903E91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2025/5/22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/>
              <a:t>深度学习处理文本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  <a:p>
            <a:r>
              <a:rPr lang="zh-CN" altLang="en-US" dirty="0"/>
              <a:t>八斗人工智能学院</a:t>
            </a:r>
            <a:endParaRPr lang="en-US" altLang="zh-CN" dirty="0"/>
          </a:p>
          <a:p>
            <a:r>
              <a:rPr lang="zh-CN" altLang="en-US" dirty="0"/>
              <a:t>宋学林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反向传播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-528955" y="2347595"/>
            <a:ext cx="4728210" cy="3627120"/>
            <a:chOff x="-1060" y="3926"/>
            <a:chExt cx="7446" cy="5712"/>
          </a:xfrm>
        </p:grpSpPr>
        <p:sp>
          <p:nvSpPr>
            <p:cNvPr id="6" name="文本框 5"/>
            <p:cNvSpPr txBox="1"/>
            <p:nvPr/>
          </p:nvSpPr>
          <p:spPr>
            <a:xfrm>
              <a:off x="-1060" y="3926"/>
              <a:ext cx="7446" cy="5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/>
                <a:t>输入</a:t>
              </a:r>
            </a:p>
            <a:p>
              <a:pPr algn="ctr"/>
              <a:endParaRPr lang="zh-CN" altLang="en-US" sz="2800"/>
            </a:p>
            <a:p>
              <a:pPr algn="ctr"/>
              <a:r>
                <a:rPr lang="zh-CN" altLang="en-US" sz="2400"/>
                <a:t>全连接层</a:t>
              </a:r>
            </a:p>
            <a:p>
              <a:pPr algn="ctr"/>
              <a:endParaRPr lang="zh-CN" altLang="en-US" sz="2800"/>
            </a:p>
            <a:p>
              <a:pPr algn="ctr"/>
              <a:r>
                <a:rPr lang="en-US" altLang="zh-CN" sz="2400"/>
                <a:t>sigmoid</a:t>
              </a:r>
            </a:p>
            <a:p>
              <a:pPr algn="ctr"/>
              <a:endParaRPr lang="en-US" altLang="zh-CN" sz="2800"/>
            </a:p>
            <a:p>
              <a:pPr algn="ctr"/>
              <a:r>
                <a:rPr lang="zh-CN" altLang="en-US" sz="2400"/>
                <a:t>均方差损失</a:t>
              </a:r>
            </a:p>
            <a:p>
              <a:pPr algn="ctr"/>
              <a:endParaRPr lang="zh-CN" altLang="en-US" sz="2800"/>
            </a:p>
            <a:p>
              <a:pPr algn="ctr"/>
              <a:r>
                <a:rPr lang="en-US" altLang="zh-CN" sz="2400"/>
                <a:t>loss</a:t>
              </a:r>
              <a:r>
                <a:rPr lang="zh-CN" altLang="en-US" sz="2400"/>
                <a:t>值</a:t>
              </a:r>
            </a:p>
          </p:txBody>
        </p:sp>
        <p:sp>
          <p:nvSpPr>
            <p:cNvPr id="7" name="下箭头 6"/>
            <p:cNvSpPr/>
            <p:nvPr/>
          </p:nvSpPr>
          <p:spPr>
            <a:xfrm>
              <a:off x="2505" y="4607"/>
              <a:ext cx="244" cy="56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下箭头 7"/>
            <p:cNvSpPr/>
            <p:nvPr/>
          </p:nvSpPr>
          <p:spPr>
            <a:xfrm>
              <a:off x="2569" y="5967"/>
              <a:ext cx="180" cy="56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下箭头 8"/>
            <p:cNvSpPr/>
            <p:nvPr/>
          </p:nvSpPr>
          <p:spPr>
            <a:xfrm>
              <a:off x="2568" y="7102"/>
              <a:ext cx="180" cy="56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下箭头 9"/>
            <p:cNvSpPr/>
            <p:nvPr/>
          </p:nvSpPr>
          <p:spPr>
            <a:xfrm>
              <a:off x="2542" y="8423"/>
              <a:ext cx="180" cy="56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2783840" y="2347595"/>
            <a:ext cx="4526915" cy="3813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/>
              <a:t>x</a:t>
            </a:r>
          </a:p>
          <a:p>
            <a:pPr algn="ctr"/>
            <a:endParaRPr lang="en-US" altLang="zh-CN" sz="2800"/>
          </a:p>
          <a:p>
            <a:pPr algn="ctr"/>
            <a:r>
              <a:rPr lang="en-US" altLang="zh-CN" sz="2400"/>
              <a:t>wx</a:t>
            </a:r>
          </a:p>
          <a:p>
            <a:pPr algn="ctr"/>
            <a:endParaRPr lang="en-US" altLang="zh-CN" sz="2800"/>
          </a:p>
          <a:p>
            <a:pPr algn="ctr"/>
            <a:r>
              <a:rPr lang="en-US" altLang="zh-CN" sz="2400"/>
              <a:t> 1/(1+e</a:t>
            </a:r>
            <a:r>
              <a:rPr lang="en-US" altLang="zh-CN" sz="2400" baseline="30000">
                <a:uFillTx/>
                <a:sym typeface="+mn-ea"/>
              </a:rPr>
              <a:t>-wx</a:t>
            </a:r>
            <a:r>
              <a:rPr lang="en-US" altLang="zh-CN" sz="2400"/>
              <a:t>) </a:t>
            </a:r>
          </a:p>
          <a:p>
            <a:pPr algn="ctr"/>
            <a:endParaRPr lang="en-US" altLang="zh-CN" sz="4000" baseline="30000">
              <a:solidFill>
                <a:schemeClr val="tx1"/>
              </a:solidFill>
              <a:uFillTx/>
              <a:sym typeface="+mn-ea"/>
            </a:endParaRPr>
          </a:p>
          <a:p>
            <a:pPr algn="ctr"/>
            <a:r>
              <a:rPr lang="en-US" altLang="zh-CN" sz="2400">
                <a:latin typeface="Arial" charset="0"/>
                <a:cs typeface="Arial" charset="0"/>
              </a:rPr>
              <a:t>Ʃ</a:t>
            </a:r>
            <a:r>
              <a:rPr lang="en-US" altLang="zh-CN" sz="2400"/>
              <a:t>(</a:t>
            </a:r>
            <a:r>
              <a:rPr lang="en-US" altLang="zh-CN" sz="2400">
                <a:sym typeface="+mn-ea"/>
              </a:rPr>
              <a:t>1/(1+e</a:t>
            </a:r>
            <a:r>
              <a:rPr lang="en-US" altLang="zh-CN" sz="2400" baseline="30000">
                <a:uFillTx/>
                <a:sym typeface="+mn-ea"/>
              </a:rPr>
              <a:t>-wx</a:t>
            </a:r>
            <a:r>
              <a:rPr lang="en-US" altLang="zh-CN" sz="2400">
                <a:sym typeface="+mn-ea"/>
              </a:rPr>
              <a:t>)</a:t>
            </a:r>
            <a:r>
              <a:rPr lang="en-US" altLang="zh-CN" sz="2400"/>
              <a:t> - y_true)</a:t>
            </a:r>
            <a:r>
              <a:rPr lang="en-US" altLang="zh-CN" sz="2400" baseline="30000">
                <a:solidFill>
                  <a:schemeClr val="tx1"/>
                </a:solidFill>
                <a:uFillTx/>
              </a:rPr>
              <a:t>2</a:t>
            </a:r>
            <a:r>
              <a:rPr lang="en-US" altLang="zh-CN" sz="2400"/>
              <a:t>/n</a:t>
            </a:r>
          </a:p>
          <a:p>
            <a:pPr algn="ctr"/>
            <a:endParaRPr lang="en-US" altLang="zh-CN" sz="2400"/>
          </a:p>
          <a:p>
            <a:pPr algn="ctr"/>
            <a:r>
              <a:rPr lang="en-US" altLang="zh-CN" sz="2400"/>
              <a:t>loss</a:t>
            </a:r>
          </a:p>
          <a:p>
            <a:pPr algn="ctr"/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671945" y="2347595"/>
            <a:ext cx="4526915" cy="3857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x.shape</a:t>
            </a:r>
            <a:r>
              <a:rPr lang="en-US" sz="2400" dirty="0"/>
              <a:t>=1x2</a:t>
            </a:r>
          </a:p>
          <a:p>
            <a:pPr algn="ctr"/>
            <a:endParaRPr lang="en-US" altLang="zh-CN" sz="2800" dirty="0"/>
          </a:p>
          <a:p>
            <a:pPr algn="ctr"/>
            <a:r>
              <a:rPr lang="en-US" altLang="zh-CN" sz="2400" dirty="0" err="1"/>
              <a:t>w.shap</a:t>
            </a:r>
            <a:r>
              <a:rPr lang="en-US" altLang="zh-CN" sz="2400" dirty="0"/>
              <a:t> = 2x2, </a:t>
            </a:r>
            <a:r>
              <a:rPr lang="en-US" altLang="zh-CN" sz="2400" dirty="0" err="1"/>
              <a:t>wx.shape</a:t>
            </a:r>
            <a:r>
              <a:rPr lang="en-US" altLang="zh-CN" sz="2400" dirty="0"/>
              <a:t> = 1x2</a:t>
            </a:r>
            <a:endParaRPr lang="zh-CN" altLang="en-US" sz="2400" dirty="0"/>
          </a:p>
          <a:p>
            <a:pPr algn="ctr"/>
            <a:endParaRPr lang="en-US" altLang="zh-CN" sz="2800" dirty="0"/>
          </a:p>
          <a:p>
            <a:pPr algn="ctr"/>
            <a:r>
              <a:rPr lang="en-US" altLang="zh-CN" sz="4000" baseline="30000" dirty="0" err="1">
                <a:solidFill>
                  <a:schemeClr val="tx1"/>
                </a:solidFill>
                <a:uFillTx/>
                <a:sym typeface="+mn-ea"/>
              </a:rPr>
              <a:t>sigomid</a:t>
            </a:r>
            <a:r>
              <a:rPr lang="en-US" altLang="zh-CN" sz="4000" baseline="30000" dirty="0">
                <a:solidFill>
                  <a:schemeClr val="tx1"/>
                </a:solidFill>
                <a:uFillTx/>
                <a:sym typeface="+mn-ea"/>
              </a:rPr>
              <a:t>(</a:t>
            </a:r>
            <a:r>
              <a:rPr lang="en-US" altLang="zh-CN" sz="4000" baseline="30000" dirty="0" err="1">
                <a:solidFill>
                  <a:schemeClr val="tx1"/>
                </a:solidFill>
                <a:uFillTx/>
                <a:sym typeface="+mn-ea"/>
              </a:rPr>
              <a:t>wx</a:t>
            </a:r>
            <a:r>
              <a:rPr lang="en-US" altLang="zh-CN" sz="4000" baseline="30000" dirty="0">
                <a:solidFill>
                  <a:schemeClr val="tx1"/>
                </a:solidFill>
                <a:uFillTx/>
                <a:sym typeface="+mn-ea"/>
              </a:rPr>
              <a:t>)</a:t>
            </a:r>
            <a:r>
              <a:rPr lang="en-US" altLang="zh-CN" sz="4000" baseline="30000" dirty="0">
                <a:uFillTx/>
                <a:sym typeface="+mn-ea"/>
              </a:rPr>
              <a:t>.shape</a:t>
            </a:r>
            <a:r>
              <a:rPr lang="en-US" altLang="zh-CN" sz="4000" baseline="30000" dirty="0">
                <a:solidFill>
                  <a:schemeClr val="tx1"/>
                </a:solidFill>
                <a:uFillTx/>
                <a:sym typeface="+mn-ea"/>
              </a:rPr>
              <a:t> = 1x2</a:t>
            </a:r>
          </a:p>
          <a:p>
            <a:pPr algn="ctr"/>
            <a:endParaRPr lang="en-US" altLang="zh-CN" sz="2400" dirty="0"/>
          </a:p>
          <a:p>
            <a:pPr algn="ctr"/>
            <a:r>
              <a:rPr lang="en-US" altLang="zh-CN" sz="2400" dirty="0" err="1"/>
              <a:t>y_true.shape</a:t>
            </a:r>
            <a:r>
              <a:rPr lang="en-US" altLang="zh-CN" sz="2400" dirty="0"/>
              <a:t> = 1x2</a:t>
            </a:r>
          </a:p>
          <a:p>
            <a:pPr algn="ctr"/>
            <a:endParaRPr lang="en-US" altLang="zh-CN" sz="2400" dirty="0"/>
          </a:p>
          <a:p>
            <a:pPr algn="ctr"/>
            <a:r>
              <a:rPr lang="en-US" altLang="zh-CN" sz="2400" dirty="0"/>
              <a:t>float</a:t>
            </a:r>
          </a:p>
          <a:p>
            <a:pPr algn="ctr"/>
            <a:endParaRPr lang="en-US" altLang="zh-CN" dirty="0"/>
          </a:p>
        </p:txBody>
      </p:sp>
      <p:sp>
        <p:nvSpPr>
          <p:cNvPr id="16" name="文本框 15"/>
          <p:cNvSpPr txBox="1"/>
          <p:nvPr/>
        </p:nvSpPr>
        <p:spPr>
          <a:xfrm>
            <a:off x="4799965" y="1772920"/>
            <a:ext cx="116141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运算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8472170" y="1772920"/>
            <a:ext cx="116141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形状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415415" y="1772920"/>
            <a:ext cx="116141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网络结构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8760296" y="69265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反向传播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-528955" y="2347595"/>
            <a:ext cx="4728210" cy="3627120"/>
            <a:chOff x="-1060" y="3926"/>
            <a:chExt cx="7446" cy="5712"/>
          </a:xfrm>
        </p:grpSpPr>
        <p:sp>
          <p:nvSpPr>
            <p:cNvPr id="6" name="文本框 5"/>
            <p:cNvSpPr txBox="1"/>
            <p:nvPr/>
          </p:nvSpPr>
          <p:spPr>
            <a:xfrm>
              <a:off x="-1060" y="3926"/>
              <a:ext cx="7446" cy="5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/>
                <a:t>输入</a:t>
              </a:r>
            </a:p>
            <a:p>
              <a:pPr algn="ctr"/>
              <a:endParaRPr lang="zh-CN" altLang="en-US" sz="2800"/>
            </a:p>
            <a:p>
              <a:pPr algn="ctr"/>
              <a:r>
                <a:rPr lang="zh-CN" altLang="en-US" sz="2400"/>
                <a:t>全连接层</a:t>
              </a:r>
            </a:p>
            <a:p>
              <a:pPr algn="ctr"/>
              <a:endParaRPr lang="zh-CN" altLang="en-US" sz="2800"/>
            </a:p>
            <a:p>
              <a:pPr algn="ctr"/>
              <a:r>
                <a:rPr lang="en-US" altLang="zh-CN" sz="2400"/>
                <a:t>sigmoid</a:t>
              </a:r>
            </a:p>
            <a:p>
              <a:pPr algn="ctr"/>
              <a:endParaRPr lang="en-US" altLang="zh-CN" sz="2800"/>
            </a:p>
            <a:p>
              <a:pPr algn="ctr"/>
              <a:r>
                <a:rPr lang="zh-CN" altLang="en-US" sz="2400"/>
                <a:t>均方差损失</a:t>
              </a:r>
            </a:p>
            <a:p>
              <a:pPr algn="ctr"/>
              <a:endParaRPr lang="zh-CN" altLang="en-US" sz="2800"/>
            </a:p>
            <a:p>
              <a:pPr algn="ctr"/>
              <a:r>
                <a:rPr lang="en-US" altLang="zh-CN" sz="2400"/>
                <a:t>loss</a:t>
              </a:r>
              <a:r>
                <a:rPr lang="zh-CN" altLang="en-US" sz="2400"/>
                <a:t>值</a:t>
              </a:r>
            </a:p>
          </p:txBody>
        </p:sp>
        <p:sp>
          <p:nvSpPr>
            <p:cNvPr id="7" name="下箭头 6"/>
            <p:cNvSpPr/>
            <p:nvPr/>
          </p:nvSpPr>
          <p:spPr>
            <a:xfrm>
              <a:off x="2505" y="4607"/>
              <a:ext cx="244" cy="56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下箭头 7"/>
            <p:cNvSpPr/>
            <p:nvPr/>
          </p:nvSpPr>
          <p:spPr>
            <a:xfrm>
              <a:off x="2569" y="5967"/>
              <a:ext cx="180" cy="56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下箭头 8"/>
            <p:cNvSpPr/>
            <p:nvPr/>
          </p:nvSpPr>
          <p:spPr>
            <a:xfrm>
              <a:off x="2568" y="7102"/>
              <a:ext cx="180" cy="56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下箭头 9"/>
            <p:cNvSpPr/>
            <p:nvPr/>
          </p:nvSpPr>
          <p:spPr>
            <a:xfrm>
              <a:off x="2542" y="8423"/>
              <a:ext cx="180" cy="56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5664200" y="1772920"/>
            <a:ext cx="116141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运算过程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415415" y="1772920"/>
            <a:ext cx="116141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网络结构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720465" y="2420620"/>
            <a:ext cx="8786495" cy="448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ym typeface="+mn-ea"/>
              </a:rPr>
              <a:t>             x = [x0,  x1]         w  =  [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w11, w12           </a:t>
            </a: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                                  </a:t>
            </a:r>
            <a:r>
              <a:rPr lang="en-US" altLang="zh-CN">
                <a:solidFill>
                  <a:srgbClr val="FF0000"/>
                </a:solidFill>
              </a:rPr>
              <a:t>                   w21, w22</a:t>
            </a:r>
            <a:r>
              <a:rPr lang="en-US" altLang="zh-CN"/>
              <a:t>]</a:t>
            </a:r>
          </a:p>
          <a:p>
            <a:endParaRPr lang="en-US" altLang="zh-CN"/>
          </a:p>
          <a:p>
            <a:r>
              <a:rPr lang="en-US" altLang="zh-CN"/>
              <a:t>np.dot(x, w) = [x0*</a:t>
            </a:r>
            <a:r>
              <a:rPr lang="en-US" altLang="zh-CN">
                <a:solidFill>
                  <a:srgbClr val="FF0000"/>
                </a:solidFill>
              </a:rPr>
              <a:t>w11</a:t>
            </a:r>
            <a:r>
              <a:rPr lang="en-US" altLang="zh-CN"/>
              <a:t> + x1*</a:t>
            </a:r>
            <a:r>
              <a:rPr lang="en-US" altLang="zh-CN">
                <a:solidFill>
                  <a:srgbClr val="FF0000"/>
                </a:solidFill>
              </a:rPr>
              <a:t>w21</a:t>
            </a:r>
            <a:r>
              <a:rPr lang="en-US" altLang="zh-CN"/>
              <a:t>,               x0*</a:t>
            </a:r>
            <a:r>
              <a:rPr lang="en-US" altLang="zh-CN">
                <a:solidFill>
                  <a:srgbClr val="FF0000"/>
                </a:solidFill>
              </a:rPr>
              <a:t>w12</a:t>
            </a:r>
            <a:r>
              <a:rPr lang="en-US" altLang="zh-CN"/>
              <a:t> + x1*</a:t>
            </a:r>
            <a:r>
              <a:rPr lang="en-US" altLang="zh-CN">
                <a:solidFill>
                  <a:srgbClr val="FF0000"/>
                </a:solidFill>
              </a:rPr>
              <a:t>w22</a:t>
            </a:r>
            <a:r>
              <a:rPr lang="en-US" altLang="zh-CN"/>
              <a:t>]</a:t>
            </a:r>
          </a:p>
          <a:p>
            <a:r>
              <a:rPr lang="en-US" altLang="zh-CN"/>
              <a:t>                                      </a:t>
            </a:r>
            <a:r>
              <a:rPr lang="en-US" altLang="zh-CN">
                <a:solidFill>
                  <a:schemeClr val="accent1"/>
                </a:solidFill>
              </a:rPr>
              <a:t> wx[0]  </a:t>
            </a:r>
            <a:r>
              <a:rPr lang="en-US" altLang="zh-CN"/>
              <a:t>                                  </a:t>
            </a:r>
            <a:r>
              <a:rPr lang="en-US" altLang="zh-CN">
                <a:solidFill>
                  <a:schemeClr val="accent1"/>
                </a:solidFill>
              </a:rPr>
              <a:t>wx[1]</a:t>
            </a:r>
          </a:p>
          <a:p>
            <a:endParaRPr lang="en-US" altLang="zh-CN"/>
          </a:p>
          <a:p>
            <a:r>
              <a:rPr lang="en-US" altLang="zh-CN"/>
              <a:t>sigmoid(wx) = </a:t>
            </a:r>
            <a:r>
              <a:rPr lang="en-US" altLang="zh-CN">
                <a:sym typeface="+mn-ea"/>
              </a:rPr>
              <a:t>[sig(x0*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w11</a:t>
            </a:r>
            <a:r>
              <a:rPr lang="en-US" altLang="zh-CN">
                <a:sym typeface="+mn-ea"/>
              </a:rPr>
              <a:t> + x1*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w21</a:t>
            </a:r>
            <a:r>
              <a:rPr lang="en-US" altLang="zh-CN">
                <a:sym typeface="+mn-ea"/>
              </a:rPr>
              <a:t>),       sig(x0*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w12</a:t>
            </a:r>
            <a:r>
              <a:rPr lang="en-US" altLang="zh-CN">
                <a:sym typeface="+mn-ea"/>
              </a:rPr>
              <a:t> + x1*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w22</a:t>
            </a:r>
            <a:r>
              <a:rPr lang="en-US" altLang="zh-CN">
                <a:sym typeface="+mn-ea"/>
              </a:rPr>
              <a:t>)]         --&gt;  y_pred</a:t>
            </a:r>
          </a:p>
          <a:p>
            <a:r>
              <a:rPr lang="en-US" altLang="zh-CN">
                <a:sym typeface="+mn-ea"/>
              </a:rPr>
              <a:t>                              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       y_pred[0]                               y_pred[1]</a:t>
            </a:r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(sigmoid(wx) - y)</a:t>
            </a:r>
            <a:r>
              <a:rPr lang="en-US" altLang="zh-CN" baseline="30000">
                <a:solidFill>
                  <a:schemeClr val="tx1"/>
                </a:solidFill>
                <a:uFillTx/>
                <a:sym typeface="+mn-ea"/>
              </a:rPr>
              <a:t>2</a:t>
            </a:r>
            <a:r>
              <a:rPr lang="en-US" altLang="zh-CN">
                <a:sym typeface="+mn-ea"/>
              </a:rPr>
              <a:t> / n= [ (y_pred[0] - y[0])</a:t>
            </a:r>
            <a:r>
              <a:rPr lang="en-US" altLang="zh-CN" baseline="30000">
                <a:solidFill>
                  <a:schemeClr val="tx1"/>
                </a:solidFill>
                <a:uFillTx/>
                <a:sym typeface="+mn-ea"/>
              </a:rPr>
              <a:t>2</a:t>
            </a:r>
            <a:r>
              <a:rPr lang="en-US" altLang="zh-CN">
                <a:sym typeface="+mn-ea"/>
              </a:rPr>
              <a:t>/n,  (y_pred[1] - y[1])</a:t>
            </a:r>
            <a:r>
              <a:rPr lang="en-US" altLang="zh-CN" baseline="30000">
                <a:solidFill>
                  <a:schemeClr val="tx1"/>
                </a:solidFill>
                <a:uFillTx/>
                <a:sym typeface="+mn-ea"/>
              </a:rPr>
              <a:t>2</a:t>
            </a:r>
            <a:r>
              <a:rPr lang="en-US" altLang="zh-CN">
                <a:sym typeface="+mn-ea"/>
              </a:rPr>
              <a:t>/n ]</a:t>
            </a:r>
          </a:p>
          <a:p>
            <a:r>
              <a:rPr lang="en-US" altLang="zh-CN">
                <a:sym typeface="+mn-ea"/>
              </a:rPr>
              <a:t>                                                           </a:t>
            </a:r>
          </a:p>
          <a:p>
            <a:r>
              <a:rPr lang="en-US" altLang="zh-CN"/>
              <a:t>d(</a:t>
            </a:r>
            <a:r>
              <a:rPr lang="en-US" altLang="zh-CN">
                <a:solidFill>
                  <a:srgbClr val="FF0000"/>
                </a:solidFill>
              </a:rPr>
              <a:t>w11</a:t>
            </a:r>
            <a:r>
              <a:rPr lang="en-US" altLang="zh-CN"/>
              <a:t>) = 2(</a:t>
            </a:r>
            <a:r>
              <a:rPr lang="en-US" altLang="zh-CN">
                <a:solidFill>
                  <a:schemeClr val="accent1"/>
                </a:solidFill>
              </a:rPr>
              <a:t>y_pred[0]</a:t>
            </a:r>
            <a:r>
              <a:rPr lang="en-US" altLang="zh-CN">
                <a:sym typeface="+mn-ea"/>
              </a:rPr>
              <a:t> - y[0]</a:t>
            </a:r>
            <a:r>
              <a:rPr lang="en-US" altLang="zh-CN"/>
              <a:t>)/n  *     </a:t>
            </a:r>
            <a:r>
              <a:rPr lang="en-US" altLang="zh-CN">
                <a:solidFill>
                  <a:schemeClr val="accent1"/>
                </a:solidFill>
              </a:rPr>
              <a:t>y_pred[0]</a:t>
            </a:r>
            <a:r>
              <a:rPr lang="en-US" altLang="zh-CN"/>
              <a:t> * (1 -</a:t>
            </a:r>
            <a:r>
              <a:rPr lang="en-US" altLang="zh-CN">
                <a:solidFill>
                  <a:schemeClr val="accent1"/>
                </a:solidFill>
              </a:rPr>
              <a:t> y_pred[0]</a:t>
            </a:r>
            <a:r>
              <a:rPr lang="en-US" altLang="zh-CN"/>
              <a:t>)     *            x0</a:t>
            </a:r>
          </a:p>
          <a:p>
            <a:r>
              <a:rPr lang="en-US" altLang="zh-CN"/>
              <a:t>                            </a:t>
            </a:r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d(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w21</a:t>
            </a:r>
            <a:r>
              <a:rPr lang="en-US" altLang="zh-CN">
                <a:sym typeface="+mn-ea"/>
              </a:rPr>
              <a:t>) = 2(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y_pred[0]</a:t>
            </a:r>
            <a:r>
              <a:rPr lang="en-US" altLang="zh-CN">
                <a:sym typeface="+mn-ea"/>
              </a:rPr>
              <a:t> - y[0])/n  *     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y_pred[0]</a:t>
            </a:r>
            <a:r>
              <a:rPr lang="en-US" altLang="zh-CN">
                <a:sym typeface="+mn-ea"/>
              </a:rPr>
              <a:t> * (1 -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 y_pred[0]</a:t>
            </a:r>
            <a:r>
              <a:rPr lang="en-US" altLang="zh-CN">
                <a:sym typeface="+mn-ea"/>
              </a:rPr>
              <a:t>)     *            x1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5015865" y="5733415"/>
            <a:ext cx="6979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均方差导数        </a:t>
            </a:r>
            <a:r>
              <a:rPr lang="en-US" altLang="zh-CN"/>
              <a:t>*          sigmoid</a:t>
            </a:r>
            <a:r>
              <a:rPr lang="zh-CN" altLang="en-US"/>
              <a:t>导数                         </a:t>
            </a:r>
            <a:r>
              <a:rPr lang="en-US" altLang="zh-CN"/>
              <a:t>*    </a:t>
            </a:r>
            <a:r>
              <a:rPr lang="en-US" altLang="zh-CN">
                <a:solidFill>
                  <a:schemeClr val="accent1"/>
                </a:solidFill>
              </a:rPr>
              <a:t>wx[0]</a:t>
            </a:r>
            <a:r>
              <a:rPr lang="zh-CN" altLang="en-US"/>
              <a:t>对</a:t>
            </a:r>
            <a:r>
              <a:rPr lang="en-US" altLang="zh-CN"/>
              <a:t>w11</a:t>
            </a:r>
            <a:r>
              <a:rPr lang="zh-CN" altLang="en-US"/>
              <a:t>导数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8760296" y="69265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优化器</a:t>
            </a:r>
            <a:r>
              <a:rPr lang="en-US" altLang="zh-CN"/>
              <a:t>-Adam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81200" y="2002791"/>
            <a:ext cx="8144510" cy="46755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优化器</a:t>
            </a:r>
            <a:r>
              <a:rPr lang="en-US" altLang="zh-CN"/>
              <a:t>-Adam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/>
              <a:t>1. 实现简单，计算高效，对内存需求少</a:t>
            </a:r>
          </a:p>
          <a:p>
            <a:pPr marL="0" indent="0">
              <a:buNone/>
            </a:pPr>
            <a:r>
              <a:rPr lang="en-US" altLang="zh-CN"/>
              <a:t>2</a:t>
            </a:r>
            <a:r>
              <a:rPr lang="zh-CN" altLang="en-US"/>
              <a:t>. 超参数具有很好的解释性，且通常无需调整或仅需很少的微调</a:t>
            </a:r>
          </a:p>
          <a:p>
            <a:pPr marL="0" indent="0">
              <a:buNone/>
            </a:pPr>
            <a:r>
              <a:rPr lang="en-US" altLang="zh-CN"/>
              <a:t>3</a:t>
            </a:r>
            <a:r>
              <a:rPr lang="zh-CN" altLang="en-US"/>
              <a:t>. 更新的步长能够被限制在大致的范围内（初始学习率）</a:t>
            </a:r>
          </a:p>
          <a:p>
            <a:pPr marL="0" indent="0">
              <a:buNone/>
            </a:pPr>
            <a:r>
              <a:rPr lang="en-US" altLang="zh-CN"/>
              <a:t>4</a:t>
            </a:r>
            <a:r>
              <a:rPr lang="zh-CN" altLang="en-US"/>
              <a:t>. 能够表现出自动调整学习率</a:t>
            </a:r>
          </a:p>
          <a:p>
            <a:pPr marL="0" indent="0">
              <a:buNone/>
            </a:pPr>
            <a:r>
              <a:rPr lang="en-US" altLang="zh-CN"/>
              <a:t>5</a:t>
            </a:r>
            <a:r>
              <a:rPr lang="zh-CN" altLang="en-US"/>
              <a:t>. 很适合应用于大规模的数据及参数的场景</a:t>
            </a:r>
          </a:p>
          <a:p>
            <a:pPr marL="0" indent="0">
              <a:buNone/>
            </a:pPr>
            <a:r>
              <a:rPr lang="en-US" altLang="zh-CN"/>
              <a:t>6</a:t>
            </a:r>
            <a:r>
              <a:rPr lang="zh-CN" altLang="en-US"/>
              <a:t>. 适用于不稳定目标函数</a:t>
            </a:r>
          </a:p>
          <a:p>
            <a:pPr marL="0" indent="0">
              <a:buNone/>
            </a:pPr>
            <a:r>
              <a:rPr lang="en-US" altLang="zh-CN"/>
              <a:t>7</a:t>
            </a:r>
            <a:r>
              <a:rPr lang="zh-CN" altLang="en-US"/>
              <a:t>. 适用于梯度稀疏或梯度存在很大噪声的问题</a:t>
            </a:r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NLP</a:t>
            </a:r>
            <a:r>
              <a:rPr lang="zh-CN" altLang="en-US" dirty="0"/>
              <a:t>任务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任务：字符串分类</a:t>
            </a:r>
            <a:r>
              <a:rPr lang="en-US" altLang="zh-CN" dirty="0"/>
              <a:t> – </a:t>
            </a:r>
            <a:r>
              <a:rPr lang="zh-CN" altLang="en-US" dirty="0"/>
              <a:t>判断字符串中是否出现了指定字符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例：</a:t>
            </a:r>
          </a:p>
          <a:p>
            <a:pPr marL="0" indent="0">
              <a:buNone/>
            </a:pPr>
            <a:r>
              <a:rPr lang="zh-CN" altLang="en-US" dirty="0"/>
              <a:t>指定字符：</a:t>
            </a:r>
            <a:r>
              <a:rPr lang="en-US" altLang="zh-CN" dirty="0"/>
              <a:t>a</a:t>
            </a:r>
          </a:p>
          <a:p>
            <a:pPr marL="0" indent="0">
              <a:buNone/>
            </a:pPr>
            <a:r>
              <a:rPr lang="zh-CN" altLang="en-US" dirty="0"/>
              <a:t>样本：    </a:t>
            </a:r>
            <a:r>
              <a:rPr lang="en-US" altLang="zh-CN" dirty="0" err="1"/>
              <a:t>abcd</a:t>
            </a:r>
            <a:r>
              <a:rPr lang="en-US" altLang="zh-CN" dirty="0"/>
              <a:t>              </a:t>
            </a:r>
            <a:r>
              <a:rPr lang="zh-CN" altLang="en-US" dirty="0"/>
              <a:t>正样本</a:t>
            </a:r>
          </a:p>
          <a:p>
            <a:pPr marL="0" indent="0">
              <a:buNone/>
            </a:pPr>
            <a:r>
              <a:rPr lang="zh-CN" altLang="en-US" dirty="0"/>
              <a:t>                 </a:t>
            </a:r>
            <a:r>
              <a:rPr lang="en-US" altLang="zh-CN" dirty="0" err="1"/>
              <a:t>bcde</a:t>
            </a:r>
            <a:r>
              <a:rPr lang="en-US" altLang="zh-CN" dirty="0"/>
              <a:t>          </a:t>
            </a:r>
            <a:r>
              <a:rPr lang="zh-CN" altLang="en-US" dirty="0"/>
              <a:t>    负样本</a:t>
            </a:r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760296" y="69265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神经网络处理文本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当前输入：字符串      如：</a:t>
            </a:r>
            <a:r>
              <a:rPr lang="en-US" altLang="zh-CN" dirty="0" err="1"/>
              <a:t>abcd</a:t>
            </a:r>
            <a:endParaRPr lang="en-US" altLang="zh-CN" dirty="0"/>
          </a:p>
          <a:p>
            <a:r>
              <a:rPr lang="zh-CN" altLang="en-US" dirty="0"/>
              <a:t>预期输出：概率值      正样本</a:t>
            </a:r>
            <a:r>
              <a:rPr lang="en-US" altLang="zh-CN" dirty="0"/>
              <a:t>=1</a:t>
            </a:r>
            <a:r>
              <a:rPr lang="zh-CN" altLang="en-US" dirty="0"/>
              <a:t>，负样本</a:t>
            </a:r>
            <a:r>
              <a:rPr lang="en-US" altLang="zh-CN" dirty="0"/>
              <a:t>=0</a:t>
            </a:r>
            <a:r>
              <a:rPr lang="zh-CN" altLang="en-US" dirty="0"/>
              <a:t>，以</a:t>
            </a:r>
            <a:r>
              <a:rPr lang="en-US" altLang="zh-CN" dirty="0"/>
              <a:t>0.5</a:t>
            </a:r>
            <a:r>
              <a:rPr lang="zh-CN" altLang="en-US" dirty="0"/>
              <a:t>为分界</a:t>
            </a:r>
            <a:endParaRPr lang="en-US" altLang="zh-CN" dirty="0"/>
          </a:p>
          <a:p>
            <a:endParaRPr lang="en-US" dirty="0"/>
          </a:p>
          <a:p>
            <a:r>
              <a:rPr lang="en-US" dirty="0"/>
              <a:t>X = “</a:t>
            </a:r>
            <a:r>
              <a:rPr lang="en-US" dirty="0" err="1"/>
              <a:t>abcd</a:t>
            </a:r>
            <a:r>
              <a:rPr lang="en-US" dirty="0"/>
              <a:t>”         Y = 1</a:t>
            </a:r>
          </a:p>
          <a:p>
            <a:r>
              <a:rPr lang="en-US" dirty="0"/>
              <a:t>X =“</a:t>
            </a:r>
            <a:r>
              <a:rPr lang="en-US" dirty="0" err="1"/>
              <a:t>bcde</a:t>
            </a:r>
            <a:r>
              <a:rPr lang="en-US" dirty="0"/>
              <a:t>”          Y = 0</a:t>
            </a:r>
          </a:p>
          <a:p>
            <a:endParaRPr lang="en-US" dirty="0"/>
          </a:p>
          <a:p>
            <a:r>
              <a:rPr lang="zh-CN" altLang="en-US" dirty="0"/>
              <a:t>建模目标：找到一个映射</a:t>
            </a:r>
            <a:r>
              <a:rPr lang="en-US" altLang="zh-CN" dirty="0"/>
              <a:t>f(x)</a:t>
            </a:r>
            <a:r>
              <a:rPr lang="zh-CN" altLang="en-US" dirty="0"/>
              <a:t>，使得</a:t>
            </a:r>
            <a:r>
              <a:rPr lang="en-US" altLang="zh-CN" dirty="0"/>
              <a:t>f(“</a:t>
            </a:r>
            <a:r>
              <a:rPr lang="en-US" altLang="zh-CN" dirty="0" err="1"/>
              <a:t>abcd</a:t>
            </a:r>
            <a:r>
              <a:rPr lang="en-US" altLang="zh-CN" dirty="0"/>
              <a:t>”) = 1, f(“</a:t>
            </a:r>
            <a:r>
              <a:rPr lang="en-US" altLang="zh-CN" dirty="0" err="1"/>
              <a:t>bcde</a:t>
            </a:r>
            <a:r>
              <a:rPr lang="en-US" altLang="zh-CN" dirty="0"/>
              <a:t>”) = 0</a:t>
            </a:r>
          </a:p>
          <a:p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神经网络处理文本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step 1 </a:t>
            </a:r>
            <a:r>
              <a:rPr lang="zh-CN" altLang="en-US" dirty="0"/>
              <a:t>字符数值化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直观方式，</a:t>
            </a:r>
            <a:r>
              <a:rPr lang="en-US" altLang="zh-CN" dirty="0"/>
              <a:t>a -&gt; 1, b -&gt; 2, c -&gt; 3 …. z -&gt; 26    </a:t>
            </a:r>
            <a:r>
              <a:rPr lang="zh-CN" altLang="en-US" dirty="0"/>
              <a:t>是否合理？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每个字符转化成同维度向量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a - &gt;  [0.32618175 0.20962898 0.43550067 0.07120884 0.58215387]</a:t>
            </a:r>
          </a:p>
          <a:p>
            <a:pPr marL="0" indent="0">
              <a:buNone/>
            </a:pPr>
            <a:r>
              <a:rPr lang="en-US" altLang="zh-CN" dirty="0"/>
              <a:t>b - &gt;  [0.21841921 0.97431001 0.43676452 0.77925024 0.7307891 ]</a:t>
            </a:r>
          </a:p>
          <a:p>
            <a:pPr marL="0" indent="0">
              <a:buNone/>
            </a:pPr>
            <a:r>
              <a:rPr lang="en-US" altLang="zh-CN" dirty="0"/>
              <a:t> …</a:t>
            </a:r>
          </a:p>
          <a:p>
            <a:pPr marL="0" indent="0">
              <a:buNone/>
            </a:pPr>
            <a:r>
              <a:rPr lang="en-US" altLang="zh-CN" dirty="0"/>
              <a:t>z -&gt;   [0.72847746 0.72803551 0.43888069 0.09266955 0.65148562]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神经网络处理文本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step 1 </a:t>
            </a:r>
            <a:r>
              <a:rPr lang="zh-CN" altLang="en-US" dirty="0"/>
              <a:t>字符数值化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“</a:t>
            </a:r>
            <a:r>
              <a:rPr lang="en-US" altLang="zh-CN" dirty="0" err="1"/>
              <a:t>abcd</a:t>
            </a:r>
            <a:r>
              <a:rPr lang="en-US" altLang="zh-CN" dirty="0"/>
              <a:t>” - &gt;  4 * 5 </a:t>
            </a:r>
            <a:r>
              <a:rPr lang="zh-CN" altLang="en-US" dirty="0"/>
              <a:t>的矩阵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[[0.32618175 0.20962898 0.43550067 0.07120884 0.58215387]</a:t>
            </a:r>
          </a:p>
          <a:p>
            <a:pPr marL="0" indent="0">
              <a:buNone/>
            </a:pPr>
            <a:r>
              <a:rPr lang="en-US" altLang="zh-CN" dirty="0"/>
              <a:t> [0.21841921 0.97431001 0.43676452 0.77925024 0.7307891 ]</a:t>
            </a:r>
          </a:p>
          <a:p>
            <a:pPr marL="0" indent="0">
              <a:buNone/>
            </a:pPr>
            <a:r>
              <a:rPr lang="en-US" altLang="zh-CN" dirty="0"/>
              <a:t> [0.95035602 0.45280039 0.06675379 0.72238734 0.02466642]</a:t>
            </a:r>
          </a:p>
          <a:p>
            <a:pPr marL="0" indent="0">
              <a:buNone/>
            </a:pPr>
            <a:r>
              <a:rPr lang="en-US" altLang="zh-CN" dirty="0"/>
              <a:t> [0.86751814 0.97157839 0.0127658  0.98910503 0.92606296]]</a:t>
            </a:r>
          </a:p>
          <a:p>
            <a:pPr marL="0" indent="0">
              <a:buNone/>
            </a:pPr>
            <a:r>
              <a:rPr lang="zh-CN" altLang="en-US" dirty="0"/>
              <a:t>矩阵形状 </a:t>
            </a:r>
            <a:r>
              <a:rPr lang="en-US" altLang="zh-CN" dirty="0"/>
              <a:t>= </a:t>
            </a:r>
            <a:r>
              <a:rPr lang="zh-CN" altLang="en-US" dirty="0"/>
              <a:t>文本长度 * 向量长度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神经网络处理文本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altLang="zh-CN" dirty="0"/>
              <a:t>step 2 </a:t>
            </a:r>
            <a:r>
              <a:rPr lang="zh-CN" altLang="en-US" dirty="0"/>
              <a:t>矩阵转化为向量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求平均</a:t>
            </a:r>
          </a:p>
          <a:p>
            <a:pPr marL="0" indent="0">
              <a:buNone/>
            </a:pPr>
            <a:r>
              <a:rPr lang="en-US" altLang="zh-CN" dirty="0"/>
              <a:t>[[0.32618175 0.20962898 0.43550067 0.07120884 0.58215387]</a:t>
            </a:r>
          </a:p>
          <a:p>
            <a:pPr marL="0" indent="0">
              <a:buNone/>
            </a:pPr>
            <a:r>
              <a:rPr lang="en-US" altLang="zh-CN" dirty="0"/>
              <a:t> [0.21841921 0.97431001 0.43676452 0.77925024 0.7307891 ]</a:t>
            </a:r>
          </a:p>
          <a:p>
            <a:pPr marL="0" indent="0">
              <a:buNone/>
            </a:pPr>
            <a:r>
              <a:rPr lang="en-US" altLang="zh-CN" dirty="0"/>
              <a:t> [0.95035602 0.45280039 0.06675379 0.72238734 0.02466642]</a:t>
            </a:r>
          </a:p>
          <a:p>
            <a:pPr marL="0" indent="0">
              <a:buNone/>
            </a:pPr>
            <a:r>
              <a:rPr lang="en-US" altLang="zh-CN" dirty="0"/>
              <a:t> [0.86751814 0.97157839 0.0127658  0.98910503 0.92606296]]</a:t>
            </a:r>
          </a:p>
          <a:p>
            <a:pPr marL="0" indent="0">
              <a:buNone/>
            </a:pPr>
            <a:r>
              <a:rPr lang="en-US" altLang="zh-CN" dirty="0"/>
              <a:t>- &gt;</a:t>
            </a:r>
          </a:p>
          <a:p>
            <a:pPr marL="0" indent="0">
              <a:buNone/>
            </a:pPr>
            <a:r>
              <a:rPr lang="en-US" altLang="zh-CN" dirty="0"/>
              <a:t>[0.59061878 0.65207944 0.2379462  0.64048786 0.56591809]</a:t>
            </a:r>
          </a:p>
          <a:p>
            <a:pPr marL="0" indent="0">
              <a:buNone/>
            </a:pPr>
            <a:r>
              <a:rPr lang="zh-CN" altLang="en-US" dirty="0"/>
              <a:t>由</a:t>
            </a:r>
            <a:r>
              <a:rPr lang="en-US" altLang="zh-CN" dirty="0"/>
              <a:t>4 </a:t>
            </a:r>
            <a:r>
              <a:rPr lang="zh-CN" altLang="en-US" dirty="0"/>
              <a:t>* </a:t>
            </a:r>
            <a:r>
              <a:rPr lang="en-US" altLang="zh-CN" dirty="0"/>
              <a:t>5 </a:t>
            </a:r>
            <a:r>
              <a:rPr lang="zh-CN" altLang="en-US" dirty="0"/>
              <a:t>矩阵  </a:t>
            </a:r>
            <a:r>
              <a:rPr lang="en-US" altLang="zh-CN" dirty="0"/>
              <a:t>-&gt;  1* 5 </a:t>
            </a:r>
            <a:r>
              <a:rPr lang="zh-CN" altLang="en-US" dirty="0"/>
              <a:t>向量       形状 </a:t>
            </a:r>
            <a:r>
              <a:rPr lang="en-US" altLang="zh-CN" dirty="0"/>
              <a:t>= 1</a:t>
            </a:r>
            <a:r>
              <a:rPr lang="zh-CN" altLang="en-US" dirty="0"/>
              <a:t>*向量长度</a:t>
            </a:r>
          </a:p>
        </p:txBody>
      </p:sp>
      <p:sp>
        <p:nvSpPr>
          <p:cNvPr id="4" name="右大括号 3"/>
          <p:cNvSpPr/>
          <p:nvPr/>
        </p:nvSpPr>
        <p:spPr>
          <a:xfrm>
            <a:off x="10272593" y="3140676"/>
            <a:ext cx="288032" cy="160072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560496" y="3501008"/>
            <a:ext cx="1080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相加除以</a:t>
            </a:r>
            <a:r>
              <a:rPr lang="en-US" altLang="zh-CN" sz="2400" b="1" dirty="0"/>
              <a:t>4</a:t>
            </a:r>
            <a:endParaRPr lang="en-US" sz="2400" b="1" dirty="0"/>
          </a:p>
        </p:txBody>
      </p:sp>
      <p:sp>
        <p:nvSpPr>
          <p:cNvPr id="6" name="文本框 3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神经网络处理文本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/>
                  <a:t>step 3 </a:t>
                </a:r>
                <a:r>
                  <a:rPr lang="zh-CN" altLang="en-US" dirty="0"/>
                  <a:t>向量到数值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采取最简单的线性公式 </a:t>
                </a:r>
                <a:r>
                  <a:rPr lang="en-US" altLang="zh-CN" dirty="0"/>
                  <a:t>y = w * x + b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w </a:t>
                </a:r>
                <a:r>
                  <a:rPr lang="zh-CN" altLang="en-US" dirty="0"/>
                  <a:t>维度为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*向量维度   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为实数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例：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w = [1, 1],  b = -1, x = [1,2]</a:t>
                </a:r>
              </a:p>
              <a:p>
                <a:pPr marL="0" indent="0">
                  <a:buNone/>
                </a:pPr>
                <a:r>
                  <a:rPr lang="en-US" altLang="zh-CN" b="1" dirty="0">
                    <a:latin typeface="+mn-ea"/>
                  </a:rPr>
                  <a:t>[1,1] </a:t>
                </a:r>
                <a:r>
                  <a:rPr lang="en-US" altLang="zh-CN" dirty="0">
                    <a:latin typeface="+mn-ea"/>
                  </a:rPr>
                  <a:t>*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dirty="0">
                    <a:latin typeface="+mn-ea"/>
                  </a:rPr>
                  <a:t> - 1 = 1*1 + 1*2  - 1 = 2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7657" y="1700530"/>
                <a:ext cx="10515600" cy="4351337"/>
              </a:xfrm>
              <a:blipFill rotWithShape="1">
                <a:blip r:embed="rId2"/>
                <a:stretch>
                  <a:fillRect l="-1217" t="-2941"/>
                </a:stretch>
              </a:blipFill>
            </p:spPr>
            <p:txBody>
              <a:bodyPr/>
              <a:lstStyle/>
              <a:p>
                <a:pPr marL="0" indent="0">
                  <a:buNone/>
                </a:pPr>
                <a:r>
                  <a:rPr lang="en-US">
                    <a:noFill/>
                  </a:rPr>
                  <a:t> </a:t>
                </a:r>
                <a:endParaRPr lang="en-US">
                  <a:noFill/>
                </a:endParaRPr>
              </a:p>
            </p:txBody>
          </p:sp>
        </mc:Fallback>
      </mc:AlternateContent>
      <p:sp>
        <p:nvSpPr>
          <p:cNvPr id="7" name="文本框 3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39470" y="1772920"/>
            <a:ext cx="4097020" cy="5219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800"/>
              <a:t>step 3 </a:t>
            </a:r>
            <a:r>
              <a:rPr lang="zh-CN" altLang="en-US" sz="2800"/>
              <a:t>向量到数值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神经网络处理文本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step 4 </a:t>
            </a:r>
            <a:r>
              <a:rPr lang="zh-CN" altLang="en-US" dirty="0"/>
              <a:t>数值归一化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sigmoid</a:t>
            </a:r>
            <a:r>
              <a:rPr lang="zh-CN" altLang="en-US" dirty="0"/>
              <a:t>函数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x = 3       </a:t>
            </a:r>
            <a:r>
              <a:rPr lang="el-GR" altLang="zh-CN" dirty="0"/>
              <a:t>σ</a:t>
            </a:r>
            <a:r>
              <a:rPr lang="en-US" altLang="zh-CN" dirty="0"/>
              <a:t>(x) = 0.9526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4992" y="3201576"/>
            <a:ext cx="3725919" cy="1748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992" y="2539752"/>
            <a:ext cx="4164686" cy="307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本框 3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神经网络处理文本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整体映射</a:t>
            </a:r>
            <a:endParaRPr lang="en-US" altLang="zh-C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</a:t>
            </a:r>
            <a:r>
              <a:rPr lang="en-US" dirty="0" err="1"/>
              <a:t>abcd</a:t>
            </a:r>
            <a:r>
              <a:rPr lang="en-US" dirty="0"/>
              <a:t>”        ----</a:t>
            </a:r>
            <a:r>
              <a:rPr lang="zh-CN" altLang="en-US" dirty="0"/>
              <a:t>每个字符转化成</a:t>
            </a:r>
            <a:r>
              <a:rPr lang="zh-CN" altLang="en-US" dirty="0">
                <a:solidFill>
                  <a:srgbClr val="FF0000"/>
                </a:solidFill>
              </a:rPr>
              <a:t>向量</a:t>
            </a:r>
            <a:r>
              <a:rPr lang="en-US" altLang="zh-CN" dirty="0"/>
              <a:t>----&gt;    4 * 5</a:t>
            </a:r>
            <a:r>
              <a:rPr lang="zh-CN" altLang="en-US" dirty="0"/>
              <a:t>矩阵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4 * 5</a:t>
            </a:r>
            <a:r>
              <a:rPr lang="zh-CN" altLang="en-US" dirty="0"/>
              <a:t>矩阵   </a:t>
            </a:r>
            <a:r>
              <a:rPr lang="en-US" altLang="zh-CN" dirty="0"/>
              <a:t>----</a:t>
            </a:r>
            <a:r>
              <a:rPr lang="zh-CN" altLang="en-US" dirty="0"/>
              <a:t>向量求平均</a:t>
            </a:r>
            <a:r>
              <a:rPr lang="en-US" altLang="zh-CN" dirty="0"/>
              <a:t>----&gt;                     </a:t>
            </a:r>
            <a:r>
              <a:rPr lang="en-US" dirty="0"/>
              <a:t>1 * 5</a:t>
            </a:r>
            <a:r>
              <a:rPr lang="zh-CN" altLang="en-US" dirty="0"/>
              <a:t>向量</a:t>
            </a:r>
            <a:endParaRPr lang="en-US" altLang="zh-CN" dirty="0"/>
          </a:p>
          <a:p>
            <a:pPr marL="0" indent="0">
              <a:buNone/>
            </a:pPr>
            <a:r>
              <a:rPr lang="en-US" dirty="0"/>
              <a:t>1 * 5</a:t>
            </a:r>
            <a:r>
              <a:rPr lang="zh-CN" altLang="en-US" dirty="0"/>
              <a:t>向量   </a:t>
            </a:r>
            <a:r>
              <a:rPr lang="en-US" altLang="zh-CN" dirty="0"/>
              <a:t>----</a:t>
            </a:r>
            <a:r>
              <a:rPr lang="en-US" altLang="zh-CN" dirty="0">
                <a:solidFill>
                  <a:srgbClr val="FF0000"/>
                </a:solidFill>
              </a:rPr>
              <a:t>w</a:t>
            </a:r>
            <a:r>
              <a:rPr lang="en-US" altLang="zh-CN" dirty="0"/>
              <a:t>*x + 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zh-CN" altLang="en-US" dirty="0"/>
              <a:t>线性公式 </a:t>
            </a:r>
            <a:r>
              <a:rPr lang="en-US" altLang="zh-CN" dirty="0"/>
              <a:t>---&gt;           </a:t>
            </a:r>
            <a:r>
              <a:rPr lang="zh-CN" altLang="en-US" dirty="0"/>
              <a:t>实数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实数            </a:t>
            </a:r>
            <a:r>
              <a:rPr lang="en-US" altLang="zh-CN" dirty="0"/>
              <a:t>----sigmoid</a:t>
            </a:r>
            <a:r>
              <a:rPr lang="zh-CN" altLang="en-US" dirty="0"/>
              <a:t>归一化函数</a:t>
            </a:r>
            <a:r>
              <a:rPr lang="en-US" altLang="zh-CN" dirty="0"/>
              <a:t>---&gt;        </a:t>
            </a:r>
            <a:r>
              <a:rPr lang="en-US" dirty="0"/>
              <a:t>0-1</a:t>
            </a:r>
            <a:r>
              <a:rPr lang="zh-CN" altLang="en-US" dirty="0"/>
              <a:t>之间实数</a:t>
            </a:r>
            <a:endParaRPr 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红色</a:t>
            </a:r>
            <a:r>
              <a:rPr lang="zh-CN" altLang="en-US" dirty="0"/>
              <a:t>部分需要通过训练优化</a:t>
            </a: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</a:t>
            </a:r>
            <a:r>
              <a:rPr lang="zh-CN" altLang="en-US" dirty="0"/>
              <a:t>层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Embedding</a:t>
            </a:r>
            <a:r>
              <a:rPr lang="zh-CN" altLang="en-US" dirty="0"/>
              <a:t>矩阵是可训练的参数，一般会在模型构建时随机初始化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也可以使用预训练的词向量来做初始化，此时也可以选择不训练</a:t>
            </a:r>
            <a:r>
              <a:rPr lang="en-US" altLang="zh-CN" dirty="0"/>
              <a:t>Embedding</a:t>
            </a:r>
            <a:r>
              <a:rPr lang="zh-CN" altLang="en-US" dirty="0"/>
              <a:t>层中的参数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输入的整数序列可以有重复，但取值不能超过</a:t>
            </a:r>
            <a:r>
              <a:rPr lang="en-US" altLang="zh-CN" dirty="0"/>
              <a:t>Embedding</a:t>
            </a:r>
            <a:r>
              <a:rPr lang="zh-CN" altLang="en-US" dirty="0"/>
              <a:t>矩阵的列数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核心价值：将</a:t>
            </a:r>
            <a:r>
              <a:rPr lang="zh-CN" altLang="en-US" b="1" dirty="0"/>
              <a:t>离散值</a:t>
            </a:r>
            <a:r>
              <a:rPr lang="zh-CN" altLang="en-US" dirty="0"/>
              <a:t>转化为向量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US" altLang="zh-CN" dirty="0" err="1"/>
              <a:t>nlp</a:t>
            </a:r>
            <a:r>
              <a:rPr lang="zh-CN" altLang="en-US" dirty="0"/>
              <a:t>任务和各类特征工程中应用广泛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</a:t>
            </a:r>
            <a:r>
              <a:rPr lang="zh-CN" altLang="en-US" dirty="0"/>
              <a:t>层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zh-CN" altLang="en-US" dirty="0"/>
              <a:t>搭配词表文件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对于中文通常使用字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对于英文使用</a:t>
            </a:r>
            <a:r>
              <a:rPr lang="en-US" altLang="zh-CN" dirty="0"/>
              <a:t>token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多个语种和符号可以出现在同一份词表中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目的：</a:t>
            </a:r>
            <a:r>
              <a:rPr lang="en-US" altLang="zh-CN" dirty="0"/>
              <a:t>“abc" --</a:t>
            </a:r>
            <a:r>
              <a:rPr lang="zh-CN" altLang="en-US" dirty="0"/>
              <a:t>词表</a:t>
            </a:r>
            <a:r>
              <a:rPr lang="en-US" altLang="zh-CN" dirty="0"/>
              <a:t>--&gt; 0,1,2  --Embedding</a:t>
            </a:r>
            <a:r>
              <a:rPr lang="zh-CN" altLang="en-US" dirty="0"/>
              <a:t>层</a:t>
            </a:r>
            <a:r>
              <a:rPr lang="en-US" altLang="zh-CN" dirty="0"/>
              <a:t>--&gt;  3*n</a:t>
            </a:r>
            <a:r>
              <a:rPr lang="zh-CN" altLang="en-US" dirty="0"/>
              <a:t>的矩阵  </a:t>
            </a:r>
            <a:r>
              <a:rPr lang="en-US" altLang="zh-CN" dirty="0"/>
              <a:t>--&gt; model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2850" y="1772920"/>
            <a:ext cx="1653540" cy="30251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池化层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降低了后续网络层的输入维度，缩减模型大小，提高计算速度</a:t>
            </a:r>
          </a:p>
          <a:p>
            <a:r>
              <a:rPr lang="zh-CN" altLang="en-US" dirty="0"/>
              <a:t>提高了特征的鲁棒性，防止过拟合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072" y="3378304"/>
            <a:ext cx="5158292" cy="2950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池化层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降低了后续网络层的输入维度，缩减模型大小，提高计算速度</a:t>
            </a:r>
          </a:p>
          <a:p>
            <a:r>
              <a:rPr lang="zh-CN" altLang="en-US" dirty="0"/>
              <a:t>提高了特征的鲁棒性，防止过拟合</a:t>
            </a:r>
            <a:endParaRPr lang="en-US" dirty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739" y="3429253"/>
            <a:ext cx="4855170" cy="2935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网络结构</a:t>
            </a:r>
            <a:r>
              <a:rPr lang="en-US" altLang="zh-CN" dirty="0"/>
              <a:t>-</a:t>
            </a:r>
            <a:r>
              <a:rPr lang="zh-CN" altLang="en-US" dirty="0"/>
              <a:t>全连接层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>
                <a:latin typeface="宋体" pitchFamily="2" charset="-122"/>
                <a:ea typeface="宋体" pitchFamily="2" charset="-122"/>
              </a:rPr>
              <a:t>又称</a:t>
            </a:r>
            <a:r>
              <a:rPr lang="zh-CN" altLang="en-US" u="sng" dirty="0">
                <a:latin typeface="宋体" pitchFamily="2" charset="-122"/>
                <a:ea typeface="宋体" pitchFamily="2" charset="-122"/>
              </a:rPr>
              <a:t>线性层</a:t>
            </a:r>
            <a:endParaRPr lang="en-US" altLang="zh-CN" u="sng" dirty="0">
              <a:latin typeface="宋体" pitchFamily="2" charset="-122"/>
              <a:ea typeface="宋体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宋体" pitchFamily="2" charset="-122"/>
                <a:ea typeface="宋体" pitchFamily="2" charset="-122"/>
              </a:rPr>
              <a:t>计算公式：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y = w * x + b </a:t>
            </a:r>
          </a:p>
          <a:p>
            <a:pPr marL="0" indent="0">
              <a:buNone/>
            </a:pPr>
            <a:r>
              <a:rPr lang="en-US" dirty="0">
                <a:latin typeface="宋体" pitchFamily="2" charset="-122"/>
                <a:ea typeface="宋体" pitchFamily="2" charset="-122"/>
              </a:rPr>
              <a:t>W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和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b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是参与训练的参数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宋体" pitchFamily="2" charset="-122"/>
                <a:ea typeface="宋体" pitchFamily="2" charset="-122"/>
              </a:rPr>
              <a:t>W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的维度决定了隐含层输出的维度，一般称为隐单元个数（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hidden size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）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宋体" pitchFamily="2" charset="-122"/>
                <a:ea typeface="宋体" pitchFamily="2" charset="-122"/>
              </a:rPr>
              <a:t>举例：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宋体" pitchFamily="2" charset="-122"/>
                <a:ea typeface="宋体" pitchFamily="2" charset="-122"/>
              </a:rPr>
              <a:t>输入：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x 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（维度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1 x 3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）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宋体" pitchFamily="2" charset="-122"/>
                <a:ea typeface="宋体" pitchFamily="2" charset="-122"/>
              </a:rPr>
              <a:t>隐含层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1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：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w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（维度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3 x 5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）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宋体" pitchFamily="2" charset="-122"/>
                <a:ea typeface="宋体" pitchFamily="2" charset="-122"/>
              </a:rPr>
              <a:t>隐含层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2: w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（维度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5 x 2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）</a:t>
            </a:r>
            <a:endParaRPr lang="en-US" altLang="zh-CN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016" y="4005064"/>
            <a:ext cx="3888432" cy="2785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网络结构</a:t>
            </a:r>
            <a:r>
              <a:rPr lang="en-US" altLang="zh-CN" dirty="0"/>
              <a:t>-RNN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循环神经网络（</a:t>
            </a:r>
            <a:r>
              <a:rPr lang="en-US" altLang="zh-CN" dirty="0"/>
              <a:t>recurrent neural network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主要思想：将整个序列划分成多个时间步，将每一个时间步的信息依次输入模型，同时将模型输出的结果传给下一个时间步</a:t>
            </a:r>
            <a:endParaRPr lang="en-US" dirty="0"/>
          </a:p>
        </p:txBody>
      </p:sp>
      <p:pic>
        <p:nvPicPr>
          <p:cNvPr id="5122" name="Picture 2" descr="C:\Users\cauyi\Desktop\2019-07-02-input-5.gif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31704" y="3788090"/>
            <a:ext cx="5267672" cy="2844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网络结构</a:t>
            </a:r>
            <a:r>
              <a:rPr lang="en-US" altLang="zh-CN" dirty="0"/>
              <a:t>-RNN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公式：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0273" y="2436826"/>
            <a:ext cx="6336771" cy="10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049" y="3667565"/>
            <a:ext cx="8673451" cy="2935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408160" y="1772920"/>
            <a:ext cx="2361565" cy="642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input_size = 256</a:t>
            </a:r>
          </a:p>
          <a:p>
            <a:r>
              <a:rPr lang="en-US" altLang="zh-CN"/>
              <a:t>hidden_size = 128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网络结构</a:t>
            </a:r>
            <a:r>
              <a:rPr lang="en-US" altLang="zh-CN" dirty="0"/>
              <a:t>-CNN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以卷积操作为基础的网络结构，每个卷积核可以看成一个特征提取器</a:t>
            </a:r>
            <a:endParaRPr lang="en-US" dirty="0"/>
          </a:p>
        </p:txBody>
      </p:sp>
      <p:pic>
        <p:nvPicPr>
          <p:cNvPr id="6146" name="Picture 2" descr="C:\Users\cauyi\Desktop\002928_hnHI_876354.gif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82576" y="3089136"/>
            <a:ext cx="501015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Normalization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44335" y="1628775"/>
            <a:ext cx="5326380" cy="41751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70" y="1637665"/>
            <a:ext cx="6191250" cy="41408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815465" y="5842000"/>
            <a:ext cx="4208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batch normalization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256270" y="5876925"/>
            <a:ext cx="4208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layer normalization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Normalization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" y="1772920"/>
            <a:ext cx="4808855" cy="415353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384290" y="5589270"/>
            <a:ext cx="1783080" cy="365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>
                <a:solidFill>
                  <a:schemeClr val="accent1"/>
                </a:solidFill>
                <a:sym typeface="+mn-ea"/>
              </a:rPr>
              <a:t>需要学习的参数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240145" y="3284855"/>
            <a:ext cx="272542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使用输入样本计算</a:t>
            </a:r>
          </a:p>
        </p:txBody>
      </p:sp>
      <p:sp>
        <p:nvSpPr>
          <p:cNvPr id="15" name="右大括号 14"/>
          <p:cNvSpPr/>
          <p:nvPr/>
        </p:nvSpPr>
        <p:spPr>
          <a:xfrm>
            <a:off x="5592445" y="2060575"/>
            <a:ext cx="503555" cy="280860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减号 3"/>
          <p:cNvSpPr/>
          <p:nvPr/>
        </p:nvSpPr>
        <p:spPr>
          <a:xfrm>
            <a:off x="4008120" y="5876925"/>
            <a:ext cx="216535" cy="75565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减号 4"/>
          <p:cNvSpPr/>
          <p:nvPr/>
        </p:nvSpPr>
        <p:spPr>
          <a:xfrm>
            <a:off x="4799965" y="5876925"/>
            <a:ext cx="216535" cy="75565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Dropout</a:t>
            </a:r>
            <a:r>
              <a:rPr lang="zh-CN" altLang="en-US" dirty="0"/>
              <a:t>层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作用：减少过拟合</a:t>
            </a:r>
            <a:endParaRPr lang="en-US" altLang="zh-CN" dirty="0"/>
          </a:p>
          <a:p>
            <a:r>
              <a:rPr lang="zh-CN" altLang="en-US" dirty="0"/>
              <a:t>按照指定概率，随机丢弃一些神经元（将其化为零）</a:t>
            </a:r>
            <a:endParaRPr lang="en-US" altLang="zh-CN" dirty="0"/>
          </a:p>
          <a:p>
            <a:r>
              <a:rPr lang="zh-CN" altLang="en-US" dirty="0"/>
              <a:t>其余元素乘以 </a:t>
            </a:r>
            <a:r>
              <a:rPr lang="en-US" altLang="zh-CN" dirty="0"/>
              <a:t>1 / (1 – p)</a:t>
            </a:r>
            <a:r>
              <a:rPr lang="zh-CN" altLang="en-US" dirty="0"/>
              <a:t>进行放大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665" y="3429000"/>
            <a:ext cx="6133727" cy="3292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Dropout</a:t>
            </a:r>
            <a:r>
              <a:rPr lang="zh-CN" altLang="en-US" dirty="0"/>
              <a:t>层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如何理解其作用：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）强迫一个神经单元，和随机挑选出来的其他神经单元共同工作，消除减弱了神经元节点间的联合适应性，增强了泛化能力</a:t>
            </a:r>
            <a:endParaRPr lang="en-US" altLang="zh-CN" dirty="0"/>
          </a:p>
          <a:p>
            <a:endParaRPr lang="en-US" dirty="0"/>
          </a:p>
          <a:p>
            <a:r>
              <a:rPr lang="en-US" altLang="zh-CN" dirty="0"/>
              <a:t>2</a:t>
            </a:r>
            <a:r>
              <a:rPr lang="zh-CN" altLang="en-US" dirty="0"/>
              <a:t>）可以看做是一种模型平均，由于每次随机忽略的隐层节点都不同，这样就使每次训练的网络都是不一样的，每次训练都可以单做一个“新”的模型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启示：计算方式并不是越复杂就越好</a:t>
            </a:r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760296" y="70408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八斗人工智能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    盗版必究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235,&quot;width&quot;:9120}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1575</Words>
  <Application>Microsoft Office PowerPoint</Application>
  <PresentationFormat>宽屏</PresentationFormat>
  <Paragraphs>253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宋体</vt:lpstr>
      <vt:lpstr>Arial</vt:lpstr>
      <vt:lpstr>Calibri</vt:lpstr>
      <vt:lpstr>Calibri Light</vt:lpstr>
      <vt:lpstr>Cambria Math</vt:lpstr>
      <vt:lpstr>Wingdings 2</vt:lpstr>
      <vt:lpstr>HDOfficeLightV0</vt:lpstr>
      <vt:lpstr>深度学习处理文本</vt:lpstr>
      <vt:lpstr>反向传播</vt:lpstr>
      <vt:lpstr>反向传播</vt:lpstr>
      <vt:lpstr>优化器-Adam</vt:lpstr>
      <vt:lpstr>优化器-Adam</vt:lpstr>
      <vt:lpstr>NLP任务</vt:lpstr>
      <vt:lpstr>神经网络处理文本</vt:lpstr>
      <vt:lpstr>神经网络处理文本</vt:lpstr>
      <vt:lpstr>神经网络处理文本</vt:lpstr>
      <vt:lpstr>神经网络处理文本</vt:lpstr>
      <vt:lpstr>神经网络处理文本</vt:lpstr>
      <vt:lpstr>神经网络处理文本</vt:lpstr>
      <vt:lpstr>神经网络处理文本</vt:lpstr>
      <vt:lpstr>Embedding层</vt:lpstr>
      <vt:lpstr>Embedding层</vt:lpstr>
      <vt:lpstr>池化层</vt:lpstr>
      <vt:lpstr>池化层</vt:lpstr>
      <vt:lpstr>网络结构-全连接层</vt:lpstr>
      <vt:lpstr>网络结构-RNN</vt:lpstr>
      <vt:lpstr>网络结构-RNN</vt:lpstr>
      <vt:lpstr>网络结构-CNN</vt:lpstr>
      <vt:lpstr>Normalization</vt:lpstr>
      <vt:lpstr>Normalization</vt:lpstr>
      <vt:lpstr>Dropout层</vt:lpstr>
      <vt:lpstr>Dropout层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自然语言处理的发展与挑战</dc:title>
  <dc:creator>Zimo Yin</dc:creator>
  <cp:lastModifiedBy>zimo Yin</cp:lastModifiedBy>
  <cp:revision>321</cp:revision>
  <dcterms:created xsi:type="dcterms:W3CDTF">2021-01-13T12:57:00Z</dcterms:created>
  <dcterms:modified xsi:type="dcterms:W3CDTF">2025-05-22T11:35:30Z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2052-10.1.0.5554</vt:lpwstr>
  </property>
</Properties>
</file>