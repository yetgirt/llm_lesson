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36"/>
  </p:notesMasterIdLst>
  <p:sldIdLst>
    <p:sldId id="256" r:id="rId5"/>
    <p:sldId id="257" r:id="rId6"/>
    <p:sldId id="264" r:id="rId7"/>
    <p:sldId id="266" r:id="rId8"/>
    <p:sldId id="265" r:id="rId9"/>
    <p:sldId id="345" r:id="rId10"/>
    <p:sldId id="267" r:id="rId11"/>
    <p:sldId id="268" r:id="rId12"/>
    <p:sldId id="323" r:id="rId13"/>
    <p:sldId id="300" r:id="rId14"/>
    <p:sldId id="301" r:id="rId15"/>
    <p:sldId id="302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335" r:id="rId28"/>
    <p:sldId id="336" r:id="rId29"/>
    <p:sldId id="337" r:id="rId30"/>
    <p:sldId id="338" r:id="rId31"/>
    <p:sldId id="339" r:id="rId32"/>
    <p:sldId id="340" r:id="rId33"/>
    <p:sldId id="341" r:id="rId34"/>
    <p:sldId id="342" r:id="rId35"/>
    <p:sldId id="343" r:id="rId37"/>
    <p:sldId id="344" r:id="rId38"/>
    <p:sldId id="269" r:id="rId39"/>
    <p:sldId id="260" r:id="rId40"/>
    <p:sldId id="262" r:id="rId41"/>
    <p:sldId id="275" r:id="rId42"/>
    <p:sldId id="276" r:id="rId43"/>
    <p:sldId id="261" r:id="rId44"/>
    <p:sldId id="278" r:id="rId45"/>
    <p:sldId id="270" r:id="rId46"/>
    <p:sldId id="281" r:id="rId47"/>
    <p:sldId id="282" r:id="rId48"/>
    <p:sldId id="273" r:id="rId49"/>
    <p:sldId id="263" r:id="rId50"/>
    <p:sldId id="259" r:id="rId51"/>
    <p:sldId id="283" r:id="rId52"/>
    <p:sldId id="284" r:id="rId53"/>
    <p:sldId id="285" r:id="rId54"/>
    <p:sldId id="287" r:id="rId55"/>
    <p:sldId id="289" r:id="rId56"/>
    <p:sldId id="293" r:id="rId5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38" d="100"/>
          <a:sy n="138" d="100"/>
        </p:scale>
        <p:origin x="636" y="11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0" Type="http://schemas.openxmlformats.org/officeDocument/2006/relationships/tableStyles" Target="tableStyles.xml"/><Relationship Id="rId6" Type="http://schemas.openxmlformats.org/officeDocument/2006/relationships/slide" Target="slides/slide2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56CBD-69C8-4EE0-A134-F9B3D4590783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53860-41EE-41B6-A393-957165903E9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53860-41EE-41B6-A393-957165903E9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7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1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1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7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1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1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081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081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4.xml"/><Relationship Id="rId3" Type="http://schemas.openxmlformats.org/officeDocument/2006/relationships/oleObject" Target="../embeddings/oleObject2.bin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25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24.wmf"/><Relationship Id="rId1" Type="http://schemas.openxmlformats.org/officeDocument/2006/relationships/oleObject" Target="../embeddings/oleObject3.bin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>
                <a:latin typeface="等线 Light" panose="02010600030101010101" pitchFamily="2" charset="-122"/>
                <a:ea typeface="等线 Light" panose="02010600030101010101" pitchFamily="2" charset="-122"/>
              </a:rPr>
              <a:t>文本分类任务</a:t>
            </a:r>
            <a:endParaRPr lang="en-US" sz="48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altLang="zh-CN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r>
              <a:rPr lang="zh-CN" altLang="en-US" dirty="0">
                <a:latin typeface="等线 Light" panose="02010600030101010101" pitchFamily="2" charset="-122"/>
                <a:ea typeface="等线 Light" panose="02010600030101010101" pitchFamily="2" charset="-122"/>
              </a:rPr>
              <a:t>八斗人工智能学院</a:t>
            </a:r>
            <a:endParaRPr lang="en-US" altLang="zh-CN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r>
              <a:rPr lang="zh-CN" altLang="en-US" dirty="0">
                <a:latin typeface="等线 Light" panose="02010600030101010101" pitchFamily="2" charset="-122"/>
                <a:ea typeface="等线 Light" panose="02010600030101010101" pitchFamily="2" charset="-122"/>
              </a:rPr>
              <a:t>宋学林</a:t>
            </a:r>
            <a:endParaRPr lang="en-US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文本分类任务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预先设定好一个文本类别集合，对于一篇文本，预测其所属的类别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例如：</a:t>
            </a:r>
            <a:endParaRPr lang="en-US" altLang="zh-CN" dirty="0"/>
          </a:p>
          <a:p>
            <a:r>
              <a:rPr lang="zh-CN" altLang="en-US" dirty="0"/>
              <a:t>情感分析：</a:t>
            </a:r>
            <a:endParaRPr lang="en-US" altLang="zh-CN" dirty="0"/>
          </a:p>
          <a:p>
            <a:r>
              <a:rPr lang="en-US" dirty="0"/>
              <a:t>                </a:t>
            </a:r>
            <a:r>
              <a:rPr lang="zh-CN" altLang="en-US" dirty="0"/>
              <a:t>这家饭店太难吃了           </a:t>
            </a:r>
            <a:r>
              <a:rPr lang="en-US" altLang="zh-CN" dirty="0"/>
              <a:t>-&gt;    </a:t>
            </a:r>
            <a:r>
              <a:rPr lang="zh-CN" altLang="en-US" dirty="0"/>
              <a:t>正类</a:t>
            </a:r>
            <a:endParaRPr lang="en-US" altLang="zh-CN" dirty="0"/>
          </a:p>
          <a:p>
            <a:r>
              <a:rPr lang="en-US" dirty="0"/>
              <a:t>                </a:t>
            </a:r>
            <a:r>
              <a:rPr lang="zh-CN" altLang="en-US" dirty="0"/>
              <a:t>这家菜很好吃                    </a:t>
            </a:r>
            <a:r>
              <a:rPr lang="en-US" altLang="zh-CN" dirty="0"/>
              <a:t>-&gt;    </a:t>
            </a:r>
            <a:r>
              <a:rPr lang="zh-CN" altLang="en-US" dirty="0"/>
              <a:t>负类</a:t>
            </a:r>
            <a:endParaRPr lang="en-US" altLang="zh-CN" dirty="0"/>
          </a:p>
          <a:p>
            <a:r>
              <a:rPr lang="zh-CN" altLang="en-US" dirty="0"/>
              <a:t>领域分类：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zh-CN" altLang="en-US" dirty="0"/>
              <a:t>今日</a:t>
            </a:r>
            <a:r>
              <a:rPr lang="en-US" altLang="zh-CN" dirty="0"/>
              <a:t>A</a:t>
            </a:r>
            <a:r>
              <a:rPr lang="zh-CN" altLang="en-US" dirty="0"/>
              <a:t>股行情大好             </a:t>
            </a:r>
            <a:r>
              <a:rPr lang="en-US" altLang="zh-CN" dirty="0"/>
              <a:t>-&gt;     </a:t>
            </a:r>
            <a:r>
              <a:rPr lang="zh-CN" altLang="en-US" dirty="0"/>
              <a:t>经济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zh-CN" altLang="en-US" dirty="0"/>
              <a:t>今日湖人击败勇士           </a:t>
            </a:r>
            <a:r>
              <a:rPr lang="en-US" altLang="zh-CN" dirty="0"/>
              <a:t>-&gt;     </a:t>
            </a:r>
            <a:r>
              <a:rPr lang="zh-CN" altLang="en-US" dirty="0"/>
              <a:t>体育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文本分类</a:t>
            </a:r>
            <a:r>
              <a:rPr lang="en-US" altLang="zh-CN" dirty="0"/>
              <a:t>-</a:t>
            </a:r>
            <a:r>
              <a:rPr lang="zh-CN" altLang="en-US" dirty="0"/>
              <a:t>使用场景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672" y="1437330"/>
            <a:ext cx="9144000" cy="1938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136" y="4137924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一级分类</a:t>
            </a:r>
            <a:endParaRPr lang="en-US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787392" y="4137924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二级分类</a:t>
            </a:r>
            <a:endParaRPr lang="en-US" sz="2800" b="1" dirty="0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323528" y="3375460"/>
            <a:ext cx="0" cy="6544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323528" y="3375460"/>
            <a:ext cx="2880320" cy="6544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 flipV="1">
            <a:off x="2411760" y="3375460"/>
            <a:ext cx="936104" cy="6544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 flipV="1">
            <a:off x="1763688" y="3375460"/>
            <a:ext cx="1584176" cy="6544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922236" y="3273828"/>
            <a:ext cx="2425628" cy="7560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V="1">
            <a:off x="3347864" y="3375460"/>
            <a:ext cx="648072" cy="6544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3347864" y="3409117"/>
            <a:ext cx="1295204" cy="6207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3347864" y="3409117"/>
            <a:ext cx="1944216" cy="6207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22136" y="2406396"/>
            <a:ext cx="589424" cy="8674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矩形 31"/>
          <p:cNvSpPr/>
          <p:nvPr/>
        </p:nvSpPr>
        <p:spPr>
          <a:xfrm>
            <a:off x="3053152" y="2419824"/>
            <a:ext cx="589424" cy="8674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741600" y="4137924"/>
            <a:ext cx="316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资讯文章打标签</a:t>
            </a:r>
            <a:endParaRPr lang="en-US" sz="28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文本分类</a:t>
            </a:r>
            <a:r>
              <a:rPr lang="en-US" altLang="zh-CN" dirty="0"/>
              <a:t>-</a:t>
            </a:r>
            <a:r>
              <a:rPr lang="zh-CN" altLang="en-US" dirty="0"/>
              <a:t>使用场景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416092"/>
            <a:ext cx="3240360" cy="3727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768" y="1491630"/>
            <a:ext cx="2914650" cy="207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27584" y="3975907"/>
            <a:ext cx="3672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电商评论分析</a:t>
            </a:r>
            <a:endParaRPr lang="en-US" sz="3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文本分类</a:t>
            </a:r>
            <a:r>
              <a:rPr lang="en-US" altLang="zh-CN" dirty="0"/>
              <a:t>-</a:t>
            </a:r>
            <a:r>
              <a:rPr lang="zh-CN" altLang="en-US" dirty="0"/>
              <a:t>使用场景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违规检测</a:t>
            </a:r>
            <a:endParaRPr lang="en-US" altLang="zh-CN" sz="2400" dirty="0"/>
          </a:p>
          <a:p>
            <a:endParaRPr lang="en-US" sz="2400" dirty="0"/>
          </a:p>
          <a:p>
            <a:r>
              <a:rPr lang="zh-CN" altLang="en-US" sz="2400" dirty="0"/>
              <a:t>涉黄、涉暴、涉恐、辱骂等</a:t>
            </a:r>
            <a:endParaRPr lang="en-US" altLang="zh-CN" sz="2400" dirty="0"/>
          </a:p>
          <a:p>
            <a:endParaRPr lang="en-US" sz="2400" dirty="0"/>
          </a:p>
          <a:p>
            <a:r>
              <a:rPr lang="zh-CN" altLang="en-US" sz="2400" dirty="0"/>
              <a:t>主要应用在客服、销售对话质检，或网站内容审查等</a:t>
            </a:r>
            <a:endParaRPr lang="en-US" altLang="zh-CN" sz="2400" dirty="0"/>
          </a:p>
          <a:p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245611"/>
            <a:ext cx="2304256" cy="1733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1707654"/>
            <a:ext cx="5280656" cy="2687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文本分类</a:t>
            </a:r>
            <a:r>
              <a:rPr lang="en-US" altLang="zh-CN" dirty="0"/>
              <a:t>-</a:t>
            </a:r>
            <a:r>
              <a:rPr lang="zh-CN" altLang="en-US" dirty="0"/>
              <a:t>使用场景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AI</a:t>
            </a:r>
            <a:r>
              <a:rPr lang="zh-CN" altLang="en-US" sz="2400" dirty="0"/>
              <a:t>中控</a:t>
            </a:r>
            <a:endParaRPr lang="en-US" altLang="zh-CN" sz="2400" dirty="0"/>
          </a:p>
          <a:p>
            <a:endParaRPr lang="en-US" sz="2400" dirty="0"/>
          </a:p>
          <a:p>
            <a:r>
              <a:rPr lang="zh-CN" altLang="en-US" sz="2400" dirty="0"/>
              <a:t>做</a:t>
            </a:r>
            <a:r>
              <a:rPr lang="zh-CN" altLang="en-US" sz="2400"/>
              <a:t>前置意图分类</a:t>
            </a:r>
            <a:r>
              <a:rPr lang="zh-CN" altLang="en-US" sz="2400" dirty="0"/>
              <a:t>，分发给不同</a:t>
            </a:r>
            <a:r>
              <a:rPr lang="en-US" altLang="zh-CN" sz="2400" dirty="0"/>
              <a:t>Agent</a:t>
            </a:r>
            <a:endParaRPr lang="en-US" altLang="zh-CN" sz="2400" dirty="0"/>
          </a:p>
          <a:p>
            <a:endParaRPr lang="en-US" sz="2400" dirty="0"/>
          </a:p>
          <a:p>
            <a:r>
              <a:rPr lang="zh-CN" altLang="en-US" sz="2400" dirty="0"/>
              <a:t>根据业务场景确定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自定义类别任务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类别的定义方式是</a:t>
            </a:r>
            <a:r>
              <a:rPr lang="zh-CN" altLang="en-US" b="1" u="sng" dirty="0"/>
              <a:t>任意</a:t>
            </a:r>
            <a:r>
              <a:rPr lang="zh-CN" altLang="en-US" dirty="0"/>
              <a:t>的</a:t>
            </a:r>
            <a:endParaRPr lang="en-US" altLang="zh-CN" dirty="0"/>
          </a:p>
          <a:p>
            <a:r>
              <a:rPr lang="zh-CN" altLang="en-US" dirty="0"/>
              <a:t>只要人能够基于文本能够判断，都可以作为分类类别</a:t>
            </a:r>
            <a:endParaRPr lang="en-US" altLang="zh-CN" dirty="0"/>
          </a:p>
          <a:p>
            <a:r>
              <a:rPr lang="zh-CN" altLang="en-US" dirty="0"/>
              <a:t>如：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en-US" dirty="0"/>
              <a:t>垃圾邮件分类</a:t>
            </a:r>
            <a:endParaRPr lang="en-US" altLang="zh-CN" dirty="0"/>
          </a:p>
          <a:p>
            <a:r>
              <a:rPr lang="zh-CN" altLang="en-US" dirty="0"/>
              <a:t>    对话、文章是否与汽车交易相关</a:t>
            </a:r>
            <a:endParaRPr lang="en-US" altLang="zh-CN" dirty="0"/>
          </a:p>
          <a:p>
            <a:r>
              <a:rPr lang="en-US" dirty="0"/>
              <a:t>    </a:t>
            </a:r>
            <a:r>
              <a:rPr lang="zh-CN" altLang="en-US" dirty="0"/>
              <a:t>文章风格是否与某作者风格一致</a:t>
            </a:r>
            <a:endParaRPr lang="en-US" altLang="zh-CN" dirty="0"/>
          </a:p>
          <a:p>
            <a:r>
              <a:rPr lang="en-US" dirty="0"/>
              <a:t>    </a:t>
            </a:r>
            <a:r>
              <a:rPr lang="zh-CN" altLang="en-US" dirty="0"/>
              <a:t>文章是否是机器生成</a:t>
            </a:r>
            <a:endParaRPr lang="en-US" altLang="zh-CN" dirty="0"/>
          </a:p>
          <a:p>
            <a:r>
              <a:rPr lang="en-US" dirty="0"/>
              <a:t>    </a:t>
            </a:r>
            <a:r>
              <a:rPr lang="zh-CN" altLang="en-US" dirty="0"/>
              <a:t>合同文本是否符合规范</a:t>
            </a:r>
            <a:endParaRPr lang="en-US" altLang="zh-CN" dirty="0"/>
          </a:p>
          <a:p>
            <a:r>
              <a:rPr lang="en-US" dirty="0"/>
              <a:t>    </a:t>
            </a:r>
            <a:r>
              <a:rPr lang="zh-CN" altLang="en-US" dirty="0"/>
              <a:t>文章适合阅读人群（未成年、中年、老年、孕妇等）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文本分类</a:t>
            </a:r>
            <a:r>
              <a:rPr lang="en-US" altLang="zh-CN" dirty="0"/>
              <a:t>-</a:t>
            </a:r>
            <a:r>
              <a:rPr lang="zh-CN" altLang="en-US" dirty="0"/>
              <a:t>机器学习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7500" lnSpcReduction="20000"/>
          </a:bodyPr>
          <a:lstStyle/>
          <a:p>
            <a:endParaRPr lang="en-US" altLang="zh-CN" dirty="0"/>
          </a:p>
          <a:p>
            <a:r>
              <a:rPr lang="zh-CN" altLang="en-US" dirty="0"/>
              <a:t>定义类别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收集数据</a:t>
            </a:r>
            <a:endParaRPr lang="en-US" altLang="zh-CN" dirty="0"/>
          </a:p>
          <a:p>
            <a:endParaRPr lang="en-US" dirty="0"/>
          </a:p>
          <a:p>
            <a:endParaRPr lang="en-US" altLang="zh-CN" dirty="0"/>
          </a:p>
          <a:p>
            <a:r>
              <a:rPr lang="zh-CN" altLang="en-US" dirty="0"/>
              <a:t>模型训练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预测</a:t>
            </a:r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3419872" y="1437624"/>
            <a:ext cx="1503392" cy="4860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5287848" y="1437624"/>
            <a:ext cx="1503392" cy="4860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7271792" y="1463922"/>
            <a:ext cx="1503392" cy="4860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636640" y="1533825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类别</a:t>
            </a:r>
            <a:r>
              <a:rPr lang="en-US" altLang="zh-CN" sz="2400" dirty="0"/>
              <a:t>A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5543320" y="1547019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类别</a:t>
            </a:r>
            <a:r>
              <a:rPr lang="en-US" altLang="zh-CN" sz="2400" dirty="0"/>
              <a:t>B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7500192" y="1547018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类别</a:t>
            </a:r>
            <a:r>
              <a:rPr lang="en-US" altLang="zh-CN" sz="2400" dirty="0"/>
              <a:t>C</a:t>
            </a:r>
            <a:endParaRPr 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3419872" y="2421544"/>
            <a:ext cx="1503392" cy="4860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/>
          <p:cNvSpPr/>
          <p:nvPr/>
        </p:nvSpPr>
        <p:spPr>
          <a:xfrm>
            <a:off x="5287848" y="2421544"/>
            <a:ext cx="1503392" cy="4860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/>
          <p:cNvSpPr/>
          <p:nvPr/>
        </p:nvSpPr>
        <p:spPr>
          <a:xfrm>
            <a:off x="7271792" y="2447842"/>
            <a:ext cx="1503392" cy="4860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636640" y="2517744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r>
              <a:rPr lang="zh-CN" altLang="en-US" sz="2400" dirty="0"/>
              <a:t>类文本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543320" y="2530938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</a:t>
            </a:r>
            <a:r>
              <a:rPr lang="zh-CN" altLang="en-US" sz="2400" dirty="0"/>
              <a:t>类文本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7500192" y="2530938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</a:t>
            </a:r>
            <a:r>
              <a:rPr lang="zh-CN" altLang="en-US" sz="2400" dirty="0"/>
              <a:t>类文本</a:t>
            </a:r>
            <a:endParaRPr lang="en-US" sz="2400" dirty="0"/>
          </a:p>
        </p:txBody>
      </p:sp>
      <p:sp>
        <p:nvSpPr>
          <p:cNvPr id="16" name="矩形 15"/>
          <p:cNvSpPr/>
          <p:nvPr/>
        </p:nvSpPr>
        <p:spPr>
          <a:xfrm>
            <a:off x="5292392" y="3543858"/>
            <a:ext cx="1503392" cy="4860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543320" y="361376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分类器</a:t>
            </a:r>
            <a:endParaRPr lang="en-US" sz="2400" dirty="0"/>
          </a:p>
        </p:txBody>
      </p:sp>
      <p:sp>
        <p:nvSpPr>
          <p:cNvPr id="18" name="矩形 17"/>
          <p:cNvSpPr/>
          <p:nvPr/>
        </p:nvSpPr>
        <p:spPr>
          <a:xfrm>
            <a:off x="3072512" y="4353947"/>
            <a:ext cx="2123448" cy="4860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147176" y="4423851"/>
            <a:ext cx="2048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未知类别文本</a:t>
            </a:r>
            <a:endParaRPr lang="en-US" sz="2400" dirty="0"/>
          </a:p>
        </p:txBody>
      </p:sp>
      <p:sp>
        <p:nvSpPr>
          <p:cNvPr id="20" name="矩形 19"/>
          <p:cNvSpPr/>
          <p:nvPr/>
        </p:nvSpPr>
        <p:spPr>
          <a:xfrm>
            <a:off x="7271792" y="4353947"/>
            <a:ext cx="1332936" cy="4860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7253496" y="4461577"/>
            <a:ext cx="1456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预测类别</a:t>
            </a:r>
            <a:endParaRPr lang="en-US" sz="2400" dirty="0"/>
          </a:p>
        </p:txBody>
      </p:sp>
      <p:cxnSp>
        <p:nvCxnSpPr>
          <p:cNvPr id="23" name="直接箭头连接符 22"/>
          <p:cNvCxnSpPr>
            <a:stCxn id="10" idx="2"/>
          </p:cNvCxnSpPr>
          <p:nvPr/>
        </p:nvCxnSpPr>
        <p:spPr>
          <a:xfrm>
            <a:off x="4171568" y="2907598"/>
            <a:ext cx="1867976" cy="6362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1" idx="2"/>
            <a:endCxn id="16" idx="0"/>
          </p:cNvCxnSpPr>
          <p:nvPr/>
        </p:nvCxnSpPr>
        <p:spPr>
          <a:xfrm>
            <a:off x="6039544" y="2907598"/>
            <a:ext cx="4544" cy="6362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6099248" y="2957490"/>
            <a:ext cx="2058064" cy="5652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18" idx="3"/>
            <a:endCxn id="20" idx="1"/>
          </p:cNvCxnSpPr>
          <p:nvPr/>
        </p:nvCxnSpPr>
        <p:spPr>
          <a:xfrm>
            <a:off x="5195960" y="4596974"/>
            <a:ext cx="20758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6" idx="2"/>
          </p:cNvCxnSpPr>
          <p:nvPr/>
        </p:nvCxnSpPr>
        <p:spPr>
          <a:xfrm>
            <a:off x="6044088" y="4029913"/>
            <a:ext cx="0" cy="5670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4" idx="2"/>
            <a:endCxn id="10" idx="0"/>
          </p:cNvCxnSpPr>
          <p:nvPr/>
        </p:nvCxnSpPr>
        <p:spPr>
          <a:xfrm>
            <a:off x="4171568" y="1923678"/>
            <a:ext cx="0" cy="4978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246120" y="2059221"/>
            <a:ext cx="166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收集或标注</a:t>
            </a:r>
            <a:endParaRPr lang="en-US" dirty="0"/>
          </a:p>
        </p:txBody>
      </p:sp>
      <p:cxnSp>
        <p:nvCxnSpPr>
          <p:cNvPr id="36" name="直接箭头连接符 35"/>
          <p:cNvCxnSpPr/>
          <p:nvPr/>
        </p:nvCxnSpPr>
        <p:spPr>
          <a:xfrm>
            <a:off x="6039544" y="1923678"/>
            <a:ext cx="0" cy="4978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8065016" y="1923678"/>
            <a:ext cx="0" cy="4978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3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66060" y="2122170"/>
            <a:ext cx="3611880" cy="9144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5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贝叶斯算法</a:t>
            </a:r>
            <a:endParaRPr lang="zh-CN" altLang="en-US" sz="5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52120" y="519522"/>
            <a:ext cx="283493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预备知识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7500" lnSpcReduction="10000"/>
          </a:bodyPr>
          <a:lstStyle/>
          <a:p>
            <a:r>
              <a:rPr lang="zh-CN" altLang="en-US" dirty="0"/>
              <a:t>全概率公式：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举例：扔一个正常的骰子</a:t>
            </a:r>
            <a:endParaRPr lang="zh-CN" altLang="en-US" dirty="0"/>
          </a:p>
          <a:p>
            <a:r>
              <a:rPr lang="en-US" altLang="zh-CN" dirty="0"/>
              <a:t>P(B1) = </a:t>
            </a:r>
            <a:r>
              <a:rPr lang="zh-CN" altLang="en-US" dirty="0"/>
              <a:t>结果为奇数</a:t>
            </a:r>
            <a:endParaRPr lang="zh-CN" altLang="en-US" dirty="0"/>
          </a:p>
          <a:p>
            <a:r>
              <a:rPr lang="en-US" altLang="zh-CN" dirty="0"/>
              <a:t>P(B2) = </a:t>
            </a:r>
            <a:r>
              <a:rPr lang="zh-CN" altLang="en-US" dirty="0"/>
              <a:t>结果为偶数</a:t>
            </a:r>
            <a:endParaRPr lang="zh-CN" altLang="en-US" dirty="0"/>
          </a:p>
          <a:p>
            <a:r>
              <a:rPr lang="en-US" altLang="zh-CN" dirty="0"/>
              <a:t>P(A) = </a:t>
            </a:r>
            <a:r>
              <a:rPr lang="zh-CN" altLang="en-US" dirty="0"/>
              <a:t>结果为</a:t>
            </a:r>
            <a:r>
              <a:rPr lang="en-US" altLang="zh-CN" dirty="0"/>
              <a:t>5</a:t>
            </a:r>
            <a:endParaRPr lang="en-US" altLang="zh-CN" dirty="0"/>
          </a:p>
          <a:p>
            <a:r>
              <a:rPr lang="en-US" altLang="zh-CN" dirty="0"/>
              <a:t>P(A) = P(B1) * P(A|B1) + P(B2) * P(A|B2)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0632" y="1369219"/>
            <a:ext cx="5413823" cy="120196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47664" y="4516362"/>
            <a:ext cx="3820954" cy="322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/>
              <a:t>   1/2      *     1/3         +       1/2        *      0</a:t>
            </a:r>
            <a:endParaRPr lang="en-US" altLang="zh-CN" sz="1500"/>
          </a:p>
        </p:txBody>
      </p:sp>
      <p:sp>
        <p:nvSpPr>
          <p:cNvPr id="7" name="TextBox 6"/>
          <p:cNvSpPr txBox="1"/>
          <p:nvPr/>
        </p:nvSpPr>
        <p:spPr>
          <a:xfrm>
            <a:off x="5652120" y="519522"/>
            <a:ext cx="283493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贝叶斯公式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公式：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0343" y="1870710"/>
            <a:ext cx="2605088" cy="61817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778" y="2930856"/>
            <a:ext cx="3388519" cy="3971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519" y="3597864"/>
            <a:ext cx="2662714" cy="8877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52120" y="519522"/>
            <a:ext cx="283493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贝叶斯公式的应用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/>
              <a:t>求解：如果核酸检测呈阳性，感染新冠的概率是多少？</a:t>
            </a:r>
            <a:endParaRPr lang="zh-CN" altLang="en-US" sz="1800"/>
          </a:p>
          <a:p>
            <a:endParaRPr lang="zh-CN" altLang="en-US" sz="2000"/>
          </a:p>
          <a:p>
            <a:r>
              <a:rPr lang="zh-CN" altLang="en-US" sz="1800"/>
              <a:t>我们假定新冠在人群中的感染率为</a:t>
            </a:r>
            <a:r>
              <a:rPr lang="en-US" altLang="zh-CN" sz="1800"/>
              <a:t>0.</a:t>
            </a:r>
            <a:r>
              <a:rPr lang="en-US" sz="1800"/>
              <a:t>1%</a:t>
            </a:r>
            <a:r>
              <a:rPr lang="zh-CN" altLang="en-US" sz="1600"/>
              <a:t>（千分之一）</a:t>
            </a:r>
            <a:endParaRPr lang="zh-CN" altLang="en-US" sz="1600"/>
          </a:p>
          <a:p>
            <a:r>
              <a:rPr lang="zh-CN" altLang="en-US" sz="1800"/>
              <a:t>核酸检测有一定误报率，我们假定如下：</a:t>
            </a:r>
            <a:endParaRPr lang="zh-CN" altLang="en-US" sz="1800"/>
          </a:p>
          <a:p>
            <a:endParaRPr lang="zh-CN" altLang="en-US" sz="2000"/>
          </a:p>
          <a:p>
            <a:endParaRPr lang="zh-CN" altLang="en-US" sz="2400"/>
          </a:p>
          <a:p>
            <a:endParaRPr lang="zh-CN" altLang="en-US" sz="2800"/>
          </a:p>
          <a:p>
            <a:endParaRPr lang="zh-CN" altLang="en-US"/>
          </a:p>
          <a:p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119313" y="3042761"/>
          <a:ext cx="4947285" cy="1777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095"/>
                <a:gridCol w="1649095"/>
                <a:gridCol w="1649095"/>
              </a:tblGrid>
              <a:tr h="5924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800">
                        <a:latin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latin typeface="+mn-ea"/>
                        </a:rPr>
                        <a:t>检测呈阳性</a:t>
                      </a:r>
                      <a:endParaRPr lang="zh-CN" altLang="en-US" sz="1800">
                        <a:latin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latin typeface="+mn-ea"/>
                        </a:rPr>
                        <a:t>检测呈阴性</a:t>
                      </a:r>
                      <a:endParaRPr lang="zh-CN" altLang="en-US" sz="1800">
                        <a:latin typeface="+mn-ea"/>
                      </a:endParaRPr>
                    </a:p>
                  </a:txBody>
                  <a:tcPr marL="68580" marR="68580" marT="34290" marB="34290"/>
                </a:tc>
              </a:tr>
              <a:tr h="592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latin typeface="+mn-ea"/>
                        </a:rPr>
                        <a:t>感染新冠</a:t>
                      </a:r>
                      <a:endParaRPr lang="zh-CN" altLang="en-US" sz="1800">
                        <a:latin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latin typeface="+mn-ea"/>
                        </a:rPr>
                        <a:t>99</a:t>
                      </a:r>
                      <a:r>
                        <a:rPr lang="en-US" altLang="zh-CN" sz="1800">
                          <a:latin typeface="+mn-ea"/>
                        </a:rPr>
                        <a:t>%</a:t>
                      </a:r>
                      <a:endParaRPr lang="en-US" altLang="zh-CN" sz="1800">
                        <a:latin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+mn-ea"/>
                        </a:rPr>
                        <a:t>1%</a:t>
                      </a:r>
                      <a:endParaRPr lang="en-US" altLang="zh-CN" sz="1800">
                        <a:latin typeface="+mn-ea"/>
                      </a:endParaRPr>
                    </a:p>
                  </a:txBody>
                  <a:tcPr marL="68580" marR="68580" marT="34290" marB="34290"/>
                </a:tc>
              </a:tr>
              <a:tr h="592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latin typeface="+mn-ea"/>
                        </a:rPr>
                        <a:t>未感染新冠</a:t>
                      </a:r>
                      <a:endParaRPr lang="zh-CN" altLang="en-US" sz="1800">
                        <a:latin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+mn-ea"/>
                        </a:rPr>
                        <a:t>5%</a:t>
                      </a:r>
                      <a:endParaRPr lang="en-US" altLang="zh-CN" sz="1800">
                        <a:latin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+mn-ea"/>
                        </a:rPr>
                        <a:t>95%</a:t>
                      </a:r>
                      <a:endParaRPr lang="en-US" altLang="zh-CN" sz="1800" dirty="0">
                        <a:latin typeface="+mn-ea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52120" y="519522"/>
            <a:ext cx="283493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贝叶斯公式的应用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81628"/>
            <a:ext cx="7886700" cy="3263504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P(A) = </a:t>
            </a:r>
            <a:r>
              <a:rPr lang="zh-CN" altLang="en-US" dirty="0">
                <a:sym typeface="+mn-ea"/>
              </a:rPr>
              <a:t>感染新冠的概率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P(B) = </a:t>
            </a:r>
            <a:r>
              <a:rPr lang="zh-CN" altLang="en-US" dirty="0">
                <a:sym typeface="+mn-ea"/>
              </a:rPr>
              <a:t>核酸检测呈阳性的概率</a:t>
            </a:r>
            <a:endParaRPr lang="zh-CN" altLang="en-US" dirty="0"/>
          </a:p>
          <a:p>
            <a:r>
              <a:rPr lang="en-US" altLang="zh-CN" dirty="0"/>
              <a:t>P(A|B) = </a:t>
            </a:r>
            <a:r>
              <a:rPr lang="zh-CN" altLang="en-US" dirty="0"/>
              <a:t>核酸检测呈阳性，确实感染新冠的概率</a:t>
            </a:r>
            <a:endParaRPr lang="zh-CN" altLang="en-US" dirty="0"/>
          </a:p>
          <a:p>
            <a:r>
              <a:rPr lang="en-US" altLang="zh-CN" dirty="0"/>
              <a:t>P(B|A) = </a:t>
            </a:r>
            <a:r>
              <a:rPr lang="zh-CN" altLang="en-US" dirty="0"/>
              <a:t>感染了新冠，且检测结果呈阳性</a:t>
            </a:r>
            <a:endParaRPr lang="zh-CN" altLang="en-US" dirty="0"/>
          </a:p>
          <a:p>
            <a:r>
              <a:rPr lang="en-US" altLang="zh-CN" dirty="0"/>
              <a:t>P(B|A) = </a:t>
            </a:r>
            <a:r>
              <a:rPr lang="zh-CN" altLang="en-US" dirty="0"/>
              <a:t>未感染新冠，且检测结果呈阳性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4220" y="3412331"/>
            <a:ext cx="2107406" cy="50006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053" y="3975735"/>
            <a:ext cx="3393281" cy="50006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473" y="4548188"/>
            <a:ext cx="5393531" cy="5000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4"/>
            </p:custDataLst>
          </p:nvPr>
        </p:nvGraphicFramePr>
        <p:xfrm>
          <a:off x="6807443" y="1042199"/>
          <a:ext cx="2073910" cy="2582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515"/>
                <a:gridCol w="690880"/>
                <a:gridCol w="691515"/>
              </a:tblGrid>
              <a:tr h="8915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800">
                        <a:latin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latin typeface="+mn-ea"/>
                        </a:rPr>
                        <a:t>检测呈阳性</a:t>
                      </a:r>
                      <a:endParaRPr lang="zh-CN" altLang="en-US" sz="1800">
                        <a:latin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latin typeface="+mn-ea"/>
                        </a:rPr>
                        <a:t>检测呈阴性</a:t>
                      </a:r>
                      <a:endParaRPr lang="zh-CN" altLang="en-US" sz="1800">
                        <a:latin typeface="+mn-ea"/>
                      </a:endParaRPr>
                    </a:p>
                  </a:txBody>
                  <a:tcPr marL="68580" marR="68580" marT="34290" marB="34290"/>
                </a:tc>
              </a:tr>
              <a:tr h="799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latin typeface="+mn-ea"/>
                        </a:rPr>
                        <a:t>感染新冠</a:t>
                      </a:r>
                      <a:endParaRPr lang="zh-CN" altLang="en-US" sz="1800">
                        <a:latin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latin typeface="+mn-ea"/>
                        </a:rPr>
                        <a:t>99</a:t>
                      </a:r>
                      <a:r>
                        <a:rPr lang="en-US" altLang="zh-CN" sz="1800">
                          <a:latin typeface="+mn-ea"/>
                        </a:rPr>
                        <a:t>%</a:t>
                      </a:r>
                      <a:endParaRPr lang="en-US" altLang="zh-CN" sz="1800">
                        <a:latin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+mn-ea"/>
                        </a:rPr>
                        <a:t>1%</a:t>
                      </a:r>
                      <a:endParaRPr lang="en-US" altLang="zh-CN" sz="1800">
                        <a:latin typeface="+mn-ea"/>
                      </a:endParaRPr>
                    </a:p>
                  </a:txBody>
                  <a:tcPr marL="68580" marR="68580" marT="34290" marB="34290"/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latin typeface="+mn-ea"/>
                        </a:rPr>
                        <a:t>未感染新冠</a:t>
                      </a:r>
                      <a:endParaRPr lang="zh-CN" altLang="en-US" sz="1800">
                        <a:latin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>
                          <a:latin typeface="+mn-ea"/>
                        </a:rPr>
                        <a:t>5%</a:t>
                      </a:r>
                      <a:endParaRPr lang="en-US" altLang="zh-CN" sz="1800">
                        <a:latin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latin typeface="+mn-ea"/>
                        </a:rPr>
                        <a:t>95%</a:t>
                      </a:r>
                      <a:endParaRPr lang="en-US" altLang="zh-CN" sz="1800" dirty="0">
                        <a:latin typeface="+mn-ea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cxnSp>
        <p:nvCxnSpPr>
          <p:cNvPr id="12" name="直接连接符 11"/>
          <p:cNvCxnSpPr/>
          <p:nvPr/>
        </p:nvCxnSpPr>
        <p:spPr>
          <a:xfrm>
            <a:off x="1331640" y="2940845"/>
            <a:ext cx="21602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贝叶斯公式在</a:t>
            </a:r>
            <a:r>
              <a:rPr lang="en-US" altLang="zh-CN"/>
              <a:t>NLP</a:t>
            </a:r>
            <a:r>
              <a:rPr lang="zh-CN" altLang="en-US"/>
              <a:t>中的应用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用贝叶斯公式处理</a:t>
            </a:r>
            <a:r>
              <a:rPr lang="zh-CN" altLang="en-US" b="1"/>
              <a:t>文本分类</a:t>
            </a:r>
            <a:r>
              <a:rPr lang="zh-CN" altLang="en-US"/>
              <a:t>任务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一个合理假设：</a:t>
            </a:r>
            <a:endParaRPr lang="zh-CN" altLang="en-US"/>
          </a:p>
          <a:p>
            <a:r>
              <a:rPr lang="zh-CN" altLang="en-US"/>
              <a:t>    文本属于哪个类别，与文本中包含哪些词相关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任务：</a:t>
            </a:r>
            <a:endParaRPr lang="zh-CN" altLang="en-US"/>
          </a:p>
          <a:p>
            <a:r>
              <a:rPr lang="zh-CN" altLang="en-US"/>
              <a:t>    知道文本中有哪些词，预测文本属于某类别的概率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654360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贝叶斯公式</a:t>
            </a:r>
            <a:r>
              <a:rPr lang="en-US" altLang="zh-CN"/>
              <a:t>-</a:t>
            </a:r>
            <a:r>
              <a:rPr lang="zh-CN" altLang="en-US"/>
              <a:t>文本分类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7574" y="1268016"/>
            <a:ext cx="8262917" cy="3475434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>
                <a:sym typeface="+mn-ea"/>
              </a:rPr>
              <a:t>假定有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个类别</a:t>
            </a:r>
            <a:r>
              <a:rPr lang="en-US" altLang="zh-CN" dirty="0">
                <a:sym typeface="+mn-ea"/>
              </a:rPr>
              <a:t>A1, A2, A3</a:t>
            </a:r>
            <a:endParaRPr lang="zh-CN" altLang="en-US" dirty="0"/>
          </a:p>
          <a:p>
            <a:r>
              <a:rPr lang="zh-CN" altLang="en-US" dirty="0"/>
              <a:t>一个文本</a:t>
            </a:r>
            <a:r>
              <a:rPr lang="en-US" altLang="zh-CN" dirty="0"/>
              <a:t>S</a:t>
            </a:r>
            <a:r>
              <a:rPr lang="zh-CN" altLang="en-US" dirty="0"/>
              <a:t>有</a:t>
            </a:r>
            <a:r>
              <a:rPr lang="en-US" altLang="zh-CN" dirty="0"/>
              <a:t>n</a:t>
            </a:r>
            <a:r>
              <a:rPr lang="zh-CN" altLang="en-US" dirty="0"/>
              <a:t>个词组成，</a:t>
            </a:r>
            <a:r>
              <a:rPr lang="en-US" altLang="zh-CN" dirty="0"/>
              <a:t>W1, W2, W3....</a:t>
            </a:r>
            <a:r>
              <a:rPr lang="en-US" altLang="zh-CN" dirty="0" err="1"/>
              <a:t>Wn</a:t>
            </a:r>
            <a:endParaRPr lang="en-US" altLang="zh-CN" dirty="0"/>
          </a:p>
          <a:p>
            <a:r>
              <a:rPr lang="zh-CN" altLang="en-US" dirty="0"/>
              <a:t>想要计算文本</a:t>
            </a:r>
            <a:r>
              <a:rPr lang="en-US" altLang="zh-CN" dirty="0"/>
              <a:t>S</a:t>
            </a:r>
            <a:r>
              <a:rPr lang="zh-CN" altLang="en-US" dirty="0"/>
              <a:t>属于</a:t>
            </a:r>
            <a:r>
              <a:rPr lang="en-US" altLang="zh-CN" dirty="0"/>
              <a:t>A1</a:t>
            </a:r>
            <a:r>
              <a:rPr lang="zh-CN" altLang="en-US" dirty="0"/>
              <a:t>类别的概率</a:t>
            </a:r>
            <a:r>
              <a:rPr lang="en-US" altLang="zh-CN" dirty="0"/>
              <a:t>P(A1|S)</a:t>
            </a:r>
            <a:r>
              <a:rPr lang="zh-CN" altLang="en-US" dirty="0"/>
              <a:t>  </a:t>
            </a:r>
            <a:r>
              <a:rPr lang="en-US" altLang="zh-CN" dirty="0"/>
              <a:t>= P(A1|W1, W2, W3....</a:t>
            </a:r>
            <a:r>
              <a:rPr lang="en-US" altLang="zh-CN" dirty="0" err="1"/>
              <a:t>Wn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贝叶斯公式</a:t>
            </a:r>
            <a:endParaRPr lang="en-US" altLang="zh-CN" dirty="0"/>
          </a:p>
          <a:p>
            <a:r>
              <a:rPr lang="en-US" altLang="zh-CN" dirty="0"/>
              <a:t>P(A1|S) = P(W1, W2…Wn|A1)  * P(A1) / P(W1,W2…</a:t>
            </a:r>
            <a:r>
              <a:rPr lang="en-US" altLang="zh-CN" dirty="0" err="1"/>
              <a:t>Wn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P(A2|S) = P(W1, W2…Wn|A2)  * P(A2) / P(W1,W2…</a:t>
            </a:r>
            <a:r>
              <a:rPr lang="en-US" altLang="zh-CN" dirty="0" err="1"/>
              <a:t>Wn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P(A3|S) = P(W1, W2…Wn|A3)  * P(A3) / P(W1,W2…</a:t>
            </a:r>
            <a:r>
              <a:rPr lang="en-US" altLang="zh-CN" dirty="0" err="1"/>
              <a:t>Wn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词的独立性假设</a:t>
            </a:r>
            <a:endParaRPr lang="en-US" altLang="zh-CN" dirty="0"/>
          </a:p>
          <a:p>
            <a:r>
              <a:rPr lang="en-US" altLang="zh-CN" dirty="0"/>
              <a:t>P(W1, W2…Wn|A3)  = P(W1|A3) * P(W2|A3)…P(Wn|A3)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32450" y="2875287"/>
            <a:ext cx="1960880" cy="304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/>
              <a:t>分母是公共的可以不算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贝叶斯算法的缺点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1.</a:t>
            </a:r>
            <a:r>
              <a:rPr lang="zh-CN" altLang="en-US"/>
              <a:t>如果样本不均衡会极大影响先验概率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对于未见过的特征或样本，条件概率为零，失去预测的意义（可以引入平滑）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特征独立假设只是个假设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没有考虑语序，也没有词义</a:t>
            </a:r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贝叶斯算法优点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1.</a:t>
            </a:r>
            <a:r>
              <a:rPr lang="zh-CN" altLang="en-US"/>
              <a:t>简单高效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一定的可解释性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如果样本覆盖的好，效果是不错的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训练数据可以很好的分批处理</a:t>
            </a:r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66060" y="2122170"/>
            <a:ext cx="3611880" cy="9144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5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支持向量机</a:t>
            </a:r>
            <a:endParaRPr lang="zh-CN" altLang="en-US" sz="5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支持向量机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SVM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support vector machine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属于有监督学习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supervised learning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通过数据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样本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，学习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最大边距超平面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1964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年提出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0671" y="3205640"/>
            <a:ext cx="2159794" cy="17425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支持向量机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尝试区分蓝色球和红色三角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3212" y="1885474"/>
            <a:ext cx="3127534" cy="3184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支持向量机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51706" y="1369219"/>
            <a:ext cx="2840587" cy="326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支持向量机</a:t>
            </a:r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28470" y="1839949"/>
            <a:ext cx="5087060" cy="2322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支持向量机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89223" y="1264265"/>
            <a:ext cx="3851019" cy="314368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1" y="2406016"/>
            <a:ext cx="2580799" cy="52244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554" y="3002757"/>
            <a:ext cx="2025968" cy="94440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85900" y="1824990"/>
            <a:ext cx="1313498" cy="411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/>
              <a:t>决策函数：</a:t>
            </a:r>
            <a:endParaRPr lang="zh-CN" altLang="en-US" sz="2100"/>
          </a:p>
        </p:txBody>
      </p:sp>
      <p:sp>
        <p:nvSpPr>
          <p:cNvPr id="8" name="TextBox 7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支持向量机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线性不可分问题</a:t>
            </a:r>
            <a:endParaRPr lang="zh-CN" altLang="en-US"/>
          </a:p>
          <a:p>
            <a:r>
              <a:rPr lang="zh-CN" altLang="en-US"/>
              <a:t>将空间映射到更高维度来分类非线性数据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4928" y="2681288"/>
            <a:ext cx="2294096" cy="158591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183" y="2499837"/>
            <a:ext cx="4039076" cy="19483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支持向量机</a:t>
            </a:r>
            <a:r>
              <a:rPr lang="en-US" altLang="zh-CN"/>
              <a:t>-</a:t>
            </a:r>
            <a:r>
              <a:rPr lang="zh-CN" altLang="en-US"/>
              <a:t>核函数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54813"/>
            <a:ext cx="7886700" cy="3263504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为了解决线性不可分问题，我们需要把输入映射到高维，即寻找函数           ，使其输出维度高于</a:t>
            </a:r>
            <a:r>
              <a:rPr lang="en-US" altLang="zh-CN" dirty="0"/>
              <a:t>x</a:t>
            </a:r>
            <a:endParaRPr lang="zh-CN" altLang="en-US" dirty="0"/>
          </a:p>
          <a:p>
            <a:r>
              <a:rPr lang="zh-CN" altLang="en-US" dirty="0"/>
              <a:t>例如： </a:t>
            </a:r>
            <a:r>
              <a:rPr lang="en-US" altLang="zh-CN" dirty="0"/>
              <a:t>x = [X1, X2, X3]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 令           </a:t>
            </a:r>
            <a:r>
              <a:rPr lang="en-US" altLang="zh-CN" dirty="0"/>
              <a:t>=  [X1*X1,  X1*X2,  X1*X3,  X2*X1,  X2*X2</a:t>
            </a:r>
            <a:r>
              <a:rPr lang="zh-CN" altLang="en-US" dirty="0"/>
              <a:t>，</a:t>
            </a:r>
            <a:r>
              <a:rPr lang="en-US" altLang="zh-CN" dirty="0"/>
              <a:t> X2*X3,  X3*X1,  X3*X2,  X3*X3]   (</a:t>
            </a:r>
            <a:r>
              <a:rPr lang="zh-CN" altLang="en-US" dirty="0"/>
              <a:t>对自己做笛卡尔积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这样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就从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维上升到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                           </a:t>
            </a:r>
            <a:endParaRPr lang="zh-CN" altLang="en-US" dirty="0"/>
          </a:p>
        </p:txBody>
      </p:sp>
      <p:graphicFrame>
        <p:nvGraphicFramePr>
          <p:cNvPr id="5" name="对象 4"/>
          <p:cNvGraphicFramePr/>
          <p:nvPr/>
        </p:nvGraphicFramePr>
        <p:xfrm>
          <a:off x="1439652" y="1707654"/>
          <a:ext cx="520065" cy="281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955040" imgH="575310" progId="Equation.KSEE3">
                  <p:embed/>
                </p:oleObj>
              </mc:Choice>
              <mc:Fallback>
                <p:oleObj name="" r:id="rId1" imgW="955040" imgH="575310" progId="Equation.KSEE3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39652" y="1707654"/>
                        <a:ext cx="520065" cy="2814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1277634" y="2830346"/>
          <a:ext cx="520065" cy="281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3" imgW="955040" imgH="575310" progId="Equation.KSEE3">
                  <p:embed/>
                </p:oleObj>
              </mc:Choice>
              <mc:Fallback>
                <p:oleObj name="" r:id="rId3" imgW="955040" imgH="575310" progId="Equation.KSEE3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77634" y="2830346"/>
                        <a:ext cx="520065" cy="2814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5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支持向量机</a:t>
            </a:r>
            <a:r>
              <a:rPr lang="en-US" altLang="zh-CN"/>
              <a:t>-</a:t>
            </a:r>
            <a:r>
              <a:rPr lang="zh-CN" altLang="en-US"/>
              <a:t>核函数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向高维映射如何解决线性不可分问题？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考虑一组一维数据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[-1, 0, 1]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为正样本，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[-3, -2, 2, 3]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为负样本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映射为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[x, x</a:t>
            </a:r>
            <a:r>
              <a:rPr lang="en-US" altLang="zh-CN" baseline="3000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r>
              <a:rPr lang="zh-CN" altLang="en-US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</a:t>
            </a:r>
            <a:endParaRPr lang="zh-CN" altLang="en-US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可以用直线划分</a:t>
            </a:r>
            <a:endParaRPr lang="zh-CN" altLang="en-US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660" y="2625567"/>
            <a:ext cx="5461159" cy="62245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681" y="3248026"/>
            <a:ext cx="2354580" cy="1793081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4667727" y="4460081"/>
            <a:ext cx="1848326" cy="190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支持向量机</a:t>
            </a:r>
            <a:r>
              <a:rPr lang="en-US" altLang="zh-CN"/>
              <a:t>-</a:t>
            </a:r>
            <a:r>
              <a:rPr lang="zh-CN" altLang="en-US"/>
              <a:t>核函数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但是这样出现一个问题，维度过高的向量计算在进行内积运算非常耗时，而</a:t>
            </a:r>
            <a:r>
              <a:rPr lang="en-US" altLang="zh-CN" dirty="0" err="1"/>
              <a:t>svm</a:t>
            </a:r>
            <a:r>
              <a:rPr lang="zh-CN" altLang="en-US" dirty="0"/>
              <a:t>的求解中内积运算很频繁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所以我们希望内有一种方法快速计算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所谓的核函数即为满足条件：</a:t>
            </a:r>
            <a:endParaRPr lang="zh-CN" altLang="en-US" dirty="0"/>
          </a:p>
          <a:p>
            <a:r>
              <a:rPr lang="en-US" altLang="zh-CN" dirty="0"/>
              <a:t> K(x1, x2) =                     </a:t>
            </a:r>
            <a:r>
              <a:rPr lang="zh-CN" altLang="en-US" dirty="0"/>
              <a:t>的函数统称</a:t>
            </a:r>
            <a:endParaRPr lang="en-US" altLang="zh-CN" dirty="0"/>
          </a:p>
          <a:p>
            <a:endParaRPr lang="en-US" altLang="zh-CN" dirty="0"/>
          </a:p>
        </p:txBody>
      </p:sp>
      <p:graphicFrame>
        <p:nvGraphicFramePr>
          <p:cNvPr id="5" name="对象 4"/>
          <p:cNvGraphicFramePr/>
          <p:nvPr/>
        </p:nvGraphicFramePr>
        <p:xfrm>
          <a:off x="5166066" y="2358866"/>
          <a:ext cx="990124" cy="425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736600" imgH="203200" progId="Equation.KSEE3">
                  <p:embed/>
                </p:oleObj>
              </mc:Choice>
              <mc:Fallback>
                <p:oleObj name="" r:id="rId1" imgW="736600" imgH="203200" progId="Equation.KSEE3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66066" y="2358866"/>
                        <a:ext cx="990124" cy="4257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2195736" y="3550139"/>
          <a:ext cx="990124" cy="425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3" imgW="736600" imgH="203200" progId="Equation.KSEE3">
                  <p:embed/>
                </p:oleObj>
              </mc:Choice>
              <mc:Fallback>
                <p:oleObj name="" r:id="rId3" imgW="736600" imgH="203200" progId="Equation.KSEE3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736" y="3550139"/>
                        <a:ext cx="990124" cy="4257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5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支持向量机</a:t>
            </a:r>
            <a:r>
              <a:rPr lang="en-US" altLang="zh-CN"/>
              <a:t>-</a:t>
            </a:r>
            <a:r>
              <a:rPr lang="zh-CN" altLang="en-US"/>
              <a:t>核函数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线性核函数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多项式核函数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高斯核函数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双曲正切核函数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4257" y="1722596"/>
            <a:ext cx="1786414" cy="5657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795" y="2548415"/>
            <a:ext cx="2323148" cy="39576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3793" y="3204211"/>
            <a:ext cx="2565083" cy="49196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3795" y="4012883"/>
            <a:ext cx="2581275" cy="5081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支持向量机</a:t>
            </a:r>
            <a:r>
              <a:rPr lang="en-US" altLang="zh-CN"/>
              <a:t>-</a:t>
            </a:r>
            <a:r>
              <a:rPr lang="zh-CN" altLang="en-US"/>
              <a:t>解决多分类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1580" y="1167595"/>
            <a:ext cx="6866520" cy="3765881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假设要解决一个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分类问题，即有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个目标类别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one vs one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建立 K(K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- 1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)/2 个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svm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分类器，每个分类器负责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个类别中的两个类别，判断输入样本属于哪个类别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对于一个待预测的样本，使用所有分类器进行分类，最后保留被预测词数最多的类别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假设类别有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[A,B,C]   X-&gt;SVM(A,B)-&gt;A 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X-&gt;SVM(A,C)-&gt;A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X-&gt;SVM(B,C)-&gt;B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最终判断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X-&gt;A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支持向量机</a:t>
            </a:r>
            <a:r>
              <a:rPr lang="en-US" altLang="zh-CN"/>
              <a:t>-</a:t>
            </a:r>
            <a:r>
              <a:rPr lang="zh-CN" altLang="en-US"/>
              <a:t>解决多分类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7574" y="1221601"/>
            <a:ext cx="6920526" cy="3711875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假设要解决一个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分类问题，即有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个目标类别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one vs rest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建立K个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svm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分类器，每个分类器负责划分输入样本属于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个类别中的某一个类别，还是其他类别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最后保留预测分值最高的类别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假设类别有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[A,B,C]   X-&gt;SVM(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A,rest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)-&gt;0.1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X-&gt;SVM(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B,rest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)-&gt;0.2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X-&gt;SVM(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C,rest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)-&gt;0.5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最终判断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X-&gt;C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支持向量机</a:t>
            </a:r>
            <a:r>
              <a:rPr lang="en-US" altLang="zh-CN"/>
              <a:t>-</a:t>
            </a:r>
            <a:r>
              <a:rPr lang="zh-CN" altLang="en-US"/>
              <a:t>优点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1.少数支持向量决定了最终结果，对异常值不敏感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2.</a:t>
            </a:r>
            <a:r>
              <a:rPr lang="zh-CN" altLang="en-US" dirty="0"/>
              <a:t>对于样本数量需求较低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3.</a:t>
            </a:r>
            <a:r>
              <a:rPr lang="zh-CN" altLang="en-US" dirty="0"/>
              <a:t>可以处理高维度数据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支持向量机</a:t>
            </a:r>
            <a:r>
              <a:rPr lang="en-US" altLang="zh-CN"/>
              <a:t>-</a:t>
            </a:r>
            <a:r>
              <a:rPr lang="zh-CN" altLang="en-US"/>
              <a:t>缺点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样本数量过多的时候，计算负担很大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2.</a:t>
            </a:r>
            <a:r>
              <a:rPr lang="zh-CN" altLang="en-US" dirty="0"/>
              <a:t>多分类任务处理起来比较麻烦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3.</a:t>
            </a:r>
            <a:r>
              <a:rPr lang="zh-CN" altLang="en-US" dirty="0"/>
              <a:t>核函数的选取以及参数的选取较为困难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08960" y="212217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5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深度学习</a:t>
            </a:r>
            <a:endParaRPr lang="zh-CN" altLang="en-US" sz="5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52120" y="519522"/>
            <a:ext cx="2834934" cy="30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r>
              <a:rPr lang="zh-CN" altLang="en-US" sz="1350" b="1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sz="1350" b="1" dirty="0">
                <a:solidFill>
                  <a:srgbClr val="FF0000"/>
                </a:solidFill>
              </a:rPr>
              <a:t>--</a:t>
            </a:r>
            <a:endParaRPr lang="en-US" sz="135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深度学习</a:t>
            </a:r>
            <a:r>
              <a:rPr lang="en-US" altLang="zh-CN" dirty="0"/>
              <a:t>-pipeline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CN" dirty="0"/>
              <a:t>config.py        </a:t>
            </a:r>
            <a:r>
              <a:rPr lang="zh-CN" altLang="en-US" dirty="0"/>
              <a:t>输入模型配置参数，如学习率等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loader.py        </a:t>
            </a:r>
            <a:r>
              <a:rPr lang="zh-CN" altLang="en-US" dirty="0"/>
              <a:t>加载数据集，做预处理，为训练做准备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model.py        </a:t>
            </a:r>
            <a:r>
              <a:rPr lang="zh-CN" altLang="en-US" dirty="0"/>
              <a:t>定义神经网络模型结构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evaluate.py     </a:t>
            </a:r>
            <a:r>
              <a:rPr lang="zh-CN" altLang="en-US" dirty="0"/>
              <a:t>定义评价指标，每轮训练后做评测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main.py           </a:t>
            </a:r>
            <a:r>
              <a:rPr lang="zh-CN" altLang="en-US" dirty="0"/>
              <a:t>模型训练主流程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990" y="1603050"/>
            <a:ext cx="5263963" cy="2750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文本分类</a:t>
            </a:r>
            <a:r>
              <a:rPr lang="en-US" altLang="zh-CN" dirty="0"/>
              <a:t>-</a:t>
            </a:r>
            <a:r>
              <a:rPr lang="en-US" altLang="zh-CN" dirty="0" err="1"/>
              <a:t>fastText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 err="1"/>
              <a:t>ngram</a:t>
            </a:r>
            <a:r>
              <a:rPr lang="en-US" altLang="zh-CN" dirty="0"/>
              <a:t>-features</a:t>
            </a:r>
            <a:endParaRPr lang="en-US" altLang="zh-CN" dirty="0"/>
          </a:p>
          <a:p>
            <a:r>
              <a:rPr lang="en-US" dirty="0"/>
              <a:t>&lt;apple&gt;  -&gt; </a:t>
            </a:r>
            <a:endParaRPr lang="en-US" dirty="0"/>
          </a:p>
          <a:p>
            <a:r>
              <a:rPr lang="en-US" dirty="0"/>
              <a:t>[&lt;</a:t>
            </a:r>
            <a:r>
              <a:rPr lang="en-US" dirty="0" err="1"/>
              <a:t>ap</a:t>
            </a:r>
            <a:r>
              <a:rPr lang="en-US" dirty="0"/>
              <a:t>, app, </a:t>
            </a:r>
            <a:r>
              <a:rPr lang="en-US" dirty="0" err="1"/>
              <a:t>ppl</a:t>
            </a:r>
            <a:r>
              <a:rPr lang="en-US" dirty="0"/>
              <a:t>, </a:t>
            </a:r>
            <a:r>
              <a:rPr lang="en-US" dirty="0" err="1"/>
              <a:t>ple</a:t>
            </a:r>
            <a:r>
              <a:rPr lang="en-US" dirty="0"/>
              <a:t>, le&gt;]</a:t>
            </a:r>
            <a:endParaRPr lang="en-US" dirty="0"/>
          </a:p>
          <a:p>
            <a:endParaRPr lang="en-US" dirty="0"/>
          </a:p>
          <a:p>
            <a:r>
              <a:rPr lang="en-US" dirty="0"/>
              <a:t>x -&gt;</a:t>
            </a:r>
            <a:endParaRPr lang="en-US" dirty="0"/>
          </a:p>
          <a:p>
            <a:r>
              <a:rPr lang="en-US" altLang="zh-CN" dirty="0"/>
              <a:t>Embedding -&gt;</a:t>
            </a:r>
            <a:endParaRPr lang="en-US" altLang="zh-CN" dirty="0"/>
          </a:p>
          <a:p>
            <a:r>
              <a:rPr lang="en-US" altLang="zh-CN" dirty="0"/>
              <a:t>Mean Pooling -&gt;</a:t>
            </a:r>
            <a:endParaRPr lang="en-US" altLang="zh-CN" dirty="0"/>
          </a:p>
          <a:p>
            <a:r>
              <a:rPr lang="en-US" dirty="0"/>
              <a:t>Label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488" y="1513050"/>
            <a:ext cx="5878513" cy="3564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文本分类</a:t>
            </a:r>
            <a:r>
              <a:rPr lang="en-US" altLang="zh-CN" dirty="0"/>
              <a:t>-</a:t>
            </a:r>
            <a:r>
              <a:rPr lang="en-US" altLang="zh-CN" dirty="0" err="1"/>
              <a:t>TextRNN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51610"/>
            <a:ext cx="8229600" cy="3626171"/>
          </a:xfrm>
        </p:spPr>
        <p:txBody>
          <a:bodyPr>
            <a:normAutofit fontScale="55000" lnSpcReduction="20000"/>
          </a:bodyPr>
          <a:lstStyle/>
          <a:p>
            <a:r>
              <a:rPr lang="zh-CN" altLang="en-US" dirty="0"/>
              <a:t>使用</a:t>
            </a:r>
            <a:r>
              <a:rPr lang="en-US" altLang="zh-CN" dirty="0"/>
              <a:t>RNN</a:t>
            </a:r>
            <a:r>
              <a:rPr lang="zh-CN" altLang="en-US" dirty="0"/>
              <a:t>（</a:t>
            </a:r>
            <a:r>
              <a:rPr lang="en-US" altLang="zh-CN" dirty="0"/>
              <a:t>LSTM</a:t>
            </a:r>
            <a:r>
              <a:rPr lang="zh-CN" altLang="en-US" dirty="0"/>
              <a:t>、</a:t>
            </a:r>
            <a:r>
              <a:rPr lang="en-US" altLang="zh-CN" dirty="0"/>
              <a:t>GRU</a:t>
            </a:r>
            <a:r>
              <a:rPr lang="zh-CN" altLang="en-US" dirty="0"/>
              <a:t>）对文本</a:t>
            </a:r>
            <a:endParaRPr lang="en-US" altLang="zh-CN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zh-CN" altLang="en-US" dirty="0"/>
              <a:t>进行编码，使用最后一个位置的</a:t>
            </a:r>
            <a:endParaRPr lang="en-US" altLang="zh-CN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zh-CN" altLang="en-US" dirty="0"/>
              <a:t>输出向量进行分类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x</a:t>
            </a:r>
            <a:endParaRPr lang="en-US" dirty="0"/>
          </a:p>
          <a:p>
            <a:r>
              <a:rPr lang="en-US" dirty="0"/>
              <a:t>–&gt;embedding</a:t>
            </a:r>
            <a:endParaRPr lang="en-US" dirty="0"/>
          </a:p>
          <a:p>
            <a:r>
              <a:rPr lang="en-US" dirty="0"/>
              <a:t>–&gt;</a:t>
            </a:r>
            <a:r>
              <a:rPr lang="en-US" dirty="0" err="1"/>
              <a:t>BiLSTM</a:t>
            </a:r>
            <a:endParaRPr lang="en-US" dirty="0"/>
          </a:p>
          <a:p>
            <a:r>
              <a:rPr lang="en-US" dirty="0"/>
              <a:t>–&gt;</a:t>
            </a:r>
            <a:r>
              <a:rPr lang="en-US" altLang="zh-CN" dirty="0"/>
              <a:t>Dropout</a:t>
            </a:r>
            <a:endParaRPr lang="en-US" altLang="zh-CN" dirty="0"/>
          </a:p>
          <a:p>
            <a:r>
              <a:rPr lang="en-US" dirty="0"/>
              <a:t>-&gt;LSTM</a:t>
            </a:r>
            <a:endParaRPr lang="en-US" dirty="0"/>
          </a:p>
          <a:p>
            <a:r>
              <a:rPr lang="en-US" altLang="zh-CN" dirty="0"/>
              <a:t>-&gt;Linear</a:t>
            </a:r>
            <a:endParaRPr lang="en-US" dirty="0"/>
          </a:p>
          <a:p>
            <a:r>
              <a:rPr lang="en-US" dirty="0"/>
              <a:t>–&gt;</a:t>
            </a:r>
            <a:r>
              <a:rPr lang="en-US" dirty="0" err="1"/>
              <a:t>softmax</a:t>
            </a:r>
            <a:endParaRPr lang="en-US" dirty="0"/>
          </a:p>
          <a:p>
            <a:r>
              <a:rPr lang="en-US" dirty="0"/>
              <a:t>–&gt;y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文本分类</a:t>
            </a:r>
            <a:r>
              <a:rPr lang="en-US" altLang="zh-CN" dirty="0"/>
              <a:t>-RNN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Recurrent Neural Network</a:t>
            </a:r>
            <a:endParaRPr lang="en-US" altLang="zh-CN" dirty="0"/>
          </a:p>
          <a:p>
            <a:r>
              <a:rPr lang="zh-CN" altLang="en-US" dirty="0"/>
              <a:t>循环神经网络</a:t>
            </a:r>
            <a:endParaRPr lang="en-US" altLang="zh-CN" dirty="0"/>
          </a:p>
          <a:p>
            <a:endParaRPr lang="en-US" dirty="0"/>
          </a:p>
          <a:p>
            <a:endParaRPr lang="en-US" altLang="zh-CN" dirty="0"/>
          </a:p>
          <a:p>
            <a:r>
              <a:rPr lang="zh-CN" altLang="en-US" dirty="0"/>
              <a:t>隐向量按时间步向后</a:t>
            </a:r>
            <a:endParaRPr lang="en-US" altLang="zh-CN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zh-CN" altLang="en-US" dirty="0"/>
              <a:t>传递，起到记忆的作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用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968" y="1869672"/>
            <a:ext cx="4800600" cy="278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文本分类</a:t>
            </a:r>
            <a:r>
              <a:rPr lang="en-US" altLang="zh-CN" dirty="0"/>
              <a:t>-LSTM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将</a:t>
            </a:r>
            <a:r>
              <a:rPr lang="en-US" altLang="zh-CN" sz="2400" dirty="0"/>
              <a:t>RNN</a:t>
            </a:r>
            <a:r>
              <a:rPr lang="zh-CN" altLang="en-US" sz="2400" dirty="0"/>
              <a:t>的隐单元复杂化</a:t>
            </a:r>
            <a:endParaRPr lang="en-US" altLang="zh-CN" sz="2400" dirty="0"/>
          </a:p>
          <a:p>
            <a:r>
              <a:rPr lang="zh-CN" altLang="en-US" sz="2400" dirty="0"/>
              <a:t>一定程度规避了梯度消失</a:t>
            </a:r>
            <a:endParaRPr lang="en-US" altLang="zh-CN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zh-CN" altLang="en-US" sz="2400" dirty="0"/>
              <a:t>和信息遗忘的问题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437624"/>
            <a:ext cx="4099750" cy="3348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15" y="2704182"/>
            <a:ext cx="3019425" cy="264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75" y="3049365"/>
            <a:ext cx="3438525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39" y="3726443"/>
            <a:ext cx="2562225" cy="235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07" y="4004328"/>
            <a:ext cx="3076575" cy="550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文本分类</a:t>
            </a:r>
            <a:r>
              <a:rPr lang="en-US" altLang="zh-CN" dirty="0"/>
              <a:t>-</a:t>
            </a:r>
            <a:r>
              <a:rPr lang="en-US" altLang="zh-CN" dirty="0" err="1"/>
              <a:t>TextCNN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利用一维卷积对文本进行编码</a:t>
            </a:r>
            <a:br>
              <a:rPr lang="en-US" altLang="zh-CN" sz="2400" dirty="0"/>
            </a:br>
            <a:r>
              <a:rPr lang="zh-CN" altLang="en-US" sz="2400" dirty="0"/>
              <a:t>编码后的文本矩阵通过</a:t>
            </a:r>
            <a:r>
              <a:rPr lang="en-US" altLang="zh-CN" sz="2400" dirty="0"/>
              <a:t>pooling</a:t>
            </a:r>
            <a:r>
              <a:rPr lang="zh-CN" altLang="en-US" sz="2400" dirty="0"/>
              <a:t>转化为向量，用于分类</a:t>
            </a:r>
            <a:endParaRPr 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409732"/>
            <a:ext cx="8462760" cy="2538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文本分类</a:t>
            </a:r>
            <a:r>
              <a:rPr lang="en-US" altLang="zh-CN" dirty="0"/>
              <a:t>-Gated CNN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</a:t>
            </a:r>
            <a:r>
              <a:rPr lang="en-US" altLang="zh-CN" dirty="0"/>
              <a:t>CNN</a:t>
            </a:r>
            <a:r>
              <a:rPr lang="zh-CN" altLang="en-US" dirty="0"/>
              <a:t>的一种改进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5499" y="1203598"/>
            <a:ext cx="3943885" cy="3877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76" y="2560889"/>
            <a:ext cx="4222524" cy="412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59238" y="3597864"/>
            <a:ext cx="2016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Sigmoid</a:t>
            </a:r>
            <a:endParaRPr lang="en-US" altLang="zh-CN" sz="2400" dirty="0"/>
          </a:p>
          <a:p>
            <a:r>
              <a:rPr lang="zh-CN" altLang="en-US" sz="2400" dirty="0"/>
              <a:t>激活函数</a:t>
            </a:r>
            <a:endParaRPr lang="en-US" sz="2400" dirty="0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3270920" y="2956924"/>
            <a:ext cx="0" cy="5329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619672" y="1923678"/>
            <a:ext cx="4320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卷积</a:t>
            </a:r>
            <a:r>
              <a:rPr lang="en-US" altLang="zh-CN" sz="2800" dirty="0"/>
              <a:t>A</a:t>
            </a:r>
            <a:r>
              <a:rPr lang="zh-CN" altLang="en-US" sz="2800" dirty="0"/>
              <a:t>           卷积</a:t>
            </a:r>
            <a:r>
              <a:rPr lang="en-US" altLang="zh-CN" sz="2800" dirty="0"/>
              <a:t>B</a:t>
            </a:r>
            <a:endParaRPr lang="en-US" sz="2800" dirty="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2123728" y="2316093"/>
            <a:ext cx="0" cy="3096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3995936" y="2329568"/>
            <a:ext cx="0" cy="3096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dirty="0"/>
              <a:t>文本分类</a:t>
            </a:r>
            <a:r>
              <a:rPr lang="en-US" altLang="zh-CN" dirty="0"/>
              <a:t>-</a:t>
            </a:r>
            <a:r>
              <a:rPr lang="en-US" altLang="zh-CN" dirty="0" err="1"/>
              <a:t>TextRCNN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3" y="1491630"/>
            <a:ext cx="8033469" cy="3651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文本分类</a:t>
            </a:r>
            <a:r>
              <a:rPr lang="en-US" altLang="zh-CN" dirty="0"/>
              <a:t>-Bert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Bert</a:t>
            </a:r>
            <a:r>
              <a:rPr lang="zh-CN" altLang="en-US" dirty="0"/>
              <a:t>作为</a:t>
            </a:r>
            <a:r>
              <a:rPr lang="en-US" altLang="zh-CN" dirty="0"/>
              <a:t>Encoder</a:t>
            </a:r>
            <a:r>
              <a:rPr lang="zh-CN" altLang="en-US" dirty="0"/>
              <a:t>将文本转化为向量或矩阵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951135"/>
            <a:ext cx="4824536" cy="3167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文本分类</a:t>
            </a:r>
            <a:r>
              <a:rPr lang="en-US" altLang="zh-CN" dirty="0"/>
              <a:t>-Bert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对于</a:t>
            </a:r>
            <a:r>
              <a:rPr lang="en-US" altLang="zh-CN" dirty="0"/>
              <a:t>Bert</a:t>
            </a:r>
            <a:r>
              <a:rPr lang="zh-CN" altLang="en-US" dirty="0"/>
              <a:t>的编码结果，有多种的使用方式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1.</a:t>
            </a:r>
            <a:r>
              <a:rPr lang="zh-CN" altLang="en-US" dirty="0"/>
              <a:t>取</a:t>
            </a:r>
            <a:r>
              <a:rPr lang="en-US" altLang="zh-CN" dirty="0"/>
              <a:t>[</a:t>
            </a:r>
            <a:r>
              <a:rPr lang="en-US" altLang="zh-CN" dirty="0" err="1"/>
              <a:t>cls</a:t>
            </a:r>
            <a:r>
              <a:rPr lang="en-US" altLang="zh-CN" dirty="0"/>
              <a:t>] token</a:t>
            </a:r>
            <a:r>
              <a:rPr lang="zh-CN" altLang="en-US" dirty="0"/>
              <a:t>对应的向量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2.</a:t>
            </a:r>
            <a:r>
              <a:rPr lang="zh-CN" altLang="en-US" dirty="0"/>
              <a:t>将整句话的向量取</a:t>
            </a:r>
            <a:r>
              <a:rPr lang="en-US" altLang="zh-CN" dirty="0"/>
              <a:t>max/average pooling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3.</a:t>
            </a:r>
            <a:r>
              <a:rPr lang="zh-CN" altLang="en-US" dirty="0"/>
              <a:t>将</a:t>
            </a:r>
            <a:r>
              <a:rPr lang="en-US" altLang="zh-CN" dirty="0"/>
              <a:t>Bert</a:t>
            </a:r>
            <a:r>
              <a:rPr lang="zh-CN" altLang="en-US" dirty="0"/>
              <a:t>编码后的向量再输入</a:t>
            </a:r>
            <a:r>
              <a:rPr lang="en-US" altLang="zh-CN" dirty="0"/>
              <a:t>LSTM</a:t>
            </a:r>
            <a:r>
              <a:rPr lang="zh-CN" altLang="en-US" dirty="0"/>
              <a:t>或</a:t>
            </a:r>
            <a:r>
              <a:rPr lang="en-US" altLang="zh-CN" dirty="0"/>
              <a:t>CNN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4.</a:t>
            </a:r>
            <a:r>
              <a:rPr lang="zh-CN" altLang="en-US" dirty="0"/>
              <a:t>将</a:t>
            </a:r>
            <a:r>
              <a:rPr lang="en-US" altLang="zh-CN" dirty="0"/>
              <a:t>Bert</a:t>
            </a:r>
            <a:r>
              <a:rPr lang="zh-CN" altLang="en-US" dirty="0"/>
              <a:t>中间层的结果取出加入运算等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数据稀疏问题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训练数据量小，模型在训练样本上能收敛，但预测准确率很低</a:t>
            </a:r>
            <a:endParaRPr lang="en-US" altLang="zh-CN" dirty="0"/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解决方案：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1.</a:t>
            </a:r>
            <a:r>
              <a:rPr lang="zh-CN" altLang="en-US" dirty="0"/>
              <a:t>标注更多的数据</a:t>
            </a:r>
            <a:endParaRPr lang="en-US" altLang="zh-CN" dirty="0"/>
          </a:p>
          <a:p>
            <a:r>
              <a:rPr lang="en-US" dirty="0"/>
              <a:t>2.</a:t>
            </a:r>
            <a:r>
              <a:rPr lang="zh-CN" altLang="en-US" dirty="0"/>
              <a:t>尝试构造训练样本（数据增强）</a:t>
            </a:r>
            <a:endParaRPr lang="en-US" altLang="zh-CN" dirty="0"/>
          </a:p>
          <a:p>
            <a:r>
              <a:rPr lang="en-US" dirty="0"/>
              <a:t>3.</a:t>
            </a:r>
            <a:r>
              <a:rPr lang="zh-CN" altLang="en-US" dirty="0"/>
              <a:t>更换模型（如使用预训练模型等）减少数据需求</a:t>
            </a:r>
            <a:endParaRPr lang="en-US" altLang="zh-CN" dirty="0"/>
          </a:p>
          <a:p>
            <a:r>
              <a:rPr lang="en-US" dirty="0"/>
              <a:t>4.</a:t>
            </a:r>
            <a:r>
              <a:rPr lang="zh-CN" altLang="en-US" dirty="0"/>
              <a:t>增加规则弥补</a:t>
            </a:r>
            <a:endParaRPr lang="en-US" altLang="zh-CN" dirty="0"/>
          </a:p>
          <a:p>
            <a:r>
              <a:rPr lang="en-US" dirty="0"/>
              <a:t>5.</a:t>
            </a:r>
            <a:r>
              <a:rPr lang="zh-CN" altLang="en-US" dirty="0"/>
              <a:t>调整阈值，用召回率换准确率</a:t>
            </a:r>
            <a:endParaRPr lang="en-US" altLang="zh-CN" dirty="0"/>
          </a:p>
          <a:p>
            <a:r>
              <a:rPr lang="en-US" dirty="0"/>
              <a:t>6.</a:t>
            </a:r>
            <a:r>
              <a:rPr lang="zh-CN" altLang="en-US" dirty="0"/>
              <a:t>重新定义类别（减少类别）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标签不均衡问题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部分类别样本充裕，部分类别样本极少</a:t>
            </a:r>
            <a:endParaRPr lang="en-US" altLang="zh-CN" dirty="0"/>
          </a:p>
          <a:p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解决办法：</a:t>
            </a:r>
            <a:endParaRPr lang="en-US" altLang="zh-CN" dirty="0"/>
          </a:p>
          <a:p>
            <a:r>
              <a:rPr lang="zh-CN" altLang="en-US" dirty="0"/>
              <a:t>    解决数据稀疏的所有的方法依然适用</a:t>
            </a:r>
            <a:endParaRPr lang="en-US" altLang="zh-CN" dirty="0"/>
          </a:p>
          <a:p>
            <a:r>
              <a:rPr lang="en-US" dirty="0"/>
              <a:t>    1.</a:t>
            </a:r>
            <a:r>
              <a:rPr lang="zh-CN" altLang="en-US" dirty="0"/>
              <a:t>过采样       复制指定类别的样本，在采样中重复</a:t>
            </a:r>
            <a:endParaRPr lang="en-US" altLang="zh-CN" dirty="0"/>
          </a:p>
          <a:p>
            <a:r>
              <a:rPr lang="en-US" dirty="0"/>
              <a:t>    2.</a:t>
            </a:r>
            <a:r>
              <a:rPr lang="zh-CN" altLang="en-US" dirty="0"/>
              <a:t>降采样      减少多样本类别的采样，随机使用部分</a:t>
            </a:r>
            <a:endParaRPr lang="en-US" altLang="zh-CN" dirty="0"/>
          </a:p>
          <a:p>
            <a:r>
              <a:rPr lang="en-US" dirty="0"/>
              <a:t>    3.</a:t>
            </a:r>
            <a:r>
              <a:rPr lang="zh-CN" altLang="en-US" dirty="0"/>
              <a:t>调整样本权重     通过损失函数权重调整来体现</a:t>
            </a:r>
            <a:endParaRPr 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83568" y="1869672"/>
          <a:ext cx="7920876" cy="756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146"/>
                <a:gridCol w="1320146"/>
                <a:gridCol w="1320146"/>
                <a:gridCol w="1320146"/>
                <a:gridCol w="1320146"/>
                <a:gridCol w="1320146"/>
              </a:tblGrid>
              <a:tr h="378042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类别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金融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体育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科技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生活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教育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378042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样本数量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3000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3200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2800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3100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US" sz="1400" dirty="0"/>
                    </a:p>
                  </a:txBody>
                  <a:tcPr marT="34290" marB="3429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多标签分类问题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1800" dirty="0"/>
              <a:t>多标签   不同于</a:t>
            </a:r>
            <a:r>
              <a:rPr lang="en-US" altLang="zh-CN" sz="1800" dirty="0"/>
              <a:t>   </a:t>
            </a:r>
            <a:r>
              <a:rPr lang="zh-CN" altLang="en-US" sz="1800" dirty="0"/>
              <a:t>多分类</a:t>
            </a:r>
            <a:endParaRPr lang="en-US" altLang="zh-CN" sz="1800" dirty="0"/>
          </a:p>
          <a:p>
            <a:endParaRPr lang="en-US" sz="1800" dirty="0"/>
          </a:p>
          <a:p>
            <a:r>
              <a:rPr lang="zh-CN" altLang="en-US" sz="1800" dirty="0"/>
              <a:t>电影描述： 战斗中负伤而下身瘫痪的前海军战士杰克</a:t>
            </a:r>
            <a:r>
              <a:rPr lang="en-US" altLang="zh-CN" sz="1800" dirty="0"/>
              <a:t>·</a:t>
            </a:r>
            <a:r>
              <a:rPr lang="zh-CN" altLang="en-US" sz="1800" dirty="0"/>
              <a:t>萨利（萨姆</a:t>
            </a:r>
            <a:r>
              <a:rPr lang="en-US" altLang="zh-CN" sz="1800" dirty="0"/>
              <a:t>·</a:t>
            </a:r>
            <a:r>
              <a:rPr lang="zh-CN" altLang="en-US" sz="1800" dirty="0"/>
              <a:t>沃辛顿 </a:t>
            </a:r>
            <a:r>
              <a:rPr lang="en-US" altLang="zh-CN" sz="1800" dirty="0"/>
              <a:t>Sam Worthington </a:t>
            </a:r>
            <a:r>
              <a:rPr lang="zh-CN" altLang="en-US" sz="1800" dirty="0"/>
              <a:t>饰）决定替死去的同胞哥哥来到潘多拉星操纵格蕾丝博士（西格妮</a:t>
            </a:r>
            <a:r>
              <a:rPr lang="en-US" altLang="zh-CN" sz="1800" dirty="0"/>
              <a:t>·</a:t>
            </a:r>
            <a:r>
              <a:rPr lang="zh-CN" altLang="en-US" sz="1800" dirty="0"/>
              <a:t>韦弗 </a:t>
            </a:r>
            <a:r>
              <a:rPr lang="en-US" altLang="zh-CN" sz="1800" dirty="0"/>
              <a:t>Sigourney Weaver </a:t>
            </a:r>
            <a:r>
              <a:rPr lang="zh-CN" altLang="en-US" sz="1800" dirty="0"/>
              <a:t>饰）用人类基因与当地纳美部族基因结合创造出的 “阿凡达” 混血生物</a:t>
            </a:r>
            <a:r>
              <a:rPr lang="en-US" altLang="zh-CN" sz="1800" dirty="0"/>
              <a:t>……</a:t>
            </a:r>
            <a:endParaRPr lang="en-US" altLang="zh-CN" sz="1800" dirty="0"/>
          </a:p>
          <a:p>
            <a:endParaRPr lang="en-US" sz="1800" dirty="0"/>
          </a:p>
          <a:p>
            <a:r>
              <a:rPr lang="zh-CN" altLang="en-US" sz="1800" dirty="0"/>
              <a:t>标签：动作，科幻</a:t>
            </a: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6118398" y="812200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075806"/>
            <a:ext cx="2988688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057322"/>
            <a:ext cx="3227527" cy="1851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多标签分类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多标签问题的转化</a:t>
            </a:r>
            <a:endParaRPr lang="en-US" altLang="zh-CN" sz="2000" dirty="0"/>
          </a:p>
          <a:p>
            <a:endParaRPr lang="en-US" sz="2000" dirty="0"/>
          </a:p>
          <a:p>
            <a:r>
              <a:rPr lang="en-US" altLang="zh-CN" sz="2000" dirty="0"/>
              <a:t>1.</a:t>
            </a:r>
            <a:r>
              <a:rPr lang="zh-CN" altLang="en-US" sz="2000" dirty="0"/>
              <a:t>分解为多个独立的二分类问题</a:t>
            </a:r>
            <a:endParaRPr lang="en-US" altLang="zh-CN" sz="2000" dirty="0"/>
          </a:p>
          <a:p>
            <a:endParaRPr lang="en-US" sz="2000" dirty="0"/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将多标签分类问题转换为多分类问题</a:t>
            </a:r>
            <a:endParaRPr lang="en-US" altLang="zh-CN" sz="2000" dirty="0"/>
          </a:p>
          <a:p>
            <a:endParaRPr lang="en-US" sz="2000" dirty="0"/>
          </a:p>
          <a:p>
            <a:r>
              <a:rPr lang="en-US" sz="2000" dirty="0"/>
              <a:t>3.</a:t>
            </a:r>
            <a:r>
              <a:rPr lang="zh-CN" altLang="en-US" sz="2000" dirty="0"/>
              <a:t>更换</a:t>
            </a:r>
            <a:r>
              <a:rPr lang="en-US" altLang="zh-CN" sz="2000" dirty="0"/>
              <a:t>loss</a:t>
            </a:r>
            <a:r>
              <a:rPr lang="zh-CN" altLang="en-US" sz="2000" dirty="0"/>
              <a:t>直接由模型进行多标签分类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多标签分类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原始数据</a:t>
            </a:r>
            <a:endParaRPr 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75656" y="1977684"/>
          <a:ext cx="6336704" cy="2592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/>
                <a:gridCol w="1584176"/>
                <a:gridCol w="1584176"/>
                <a:gridCol w="1584176"/>
              </a:tblGrid>
              <a:tr h="432048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Class 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Class 2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Class 3 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lang="en-US" sz="1400" dirty="0"/>
                        <a:t>X1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lang="en-US" sz="1400" dirty="0"/>
                        <a:t>X2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lang="en-US" sz="1400" dirty="0"/>
                        <a:t>X3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lang="en-US" sz="1400" dirty="0"/>
                        <a:t>X4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lang="en-US" sz="1400" dirty="0"/>
                        <a:t>X5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US" sz="1400" dirty="0"/>
                    </a:p>
                  </a:txBody>
                  <a:tcPr marT="34290" marB="3429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多次二分类</a:t>
            </a:r>
            <a:endParaRPr 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07504" y="1977684"/>
          <a:ext cx="2699792" cy="27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896"/>
                <a:gridCol w="1349896"/>
              </a:tblGrid>
              <a:tr h="45005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Class 1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50050">
                <a:tc>
                  <a:txBody>
                    <a:bodyPr/>
                    <a:lstStyle/>
                    <a:p>
                      <a:r>
                        <a:rPr lang="en-US" sz="1400" dirty="0"/>
                        <a:t>X1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50050">
                <a:tc>
                  <a:txBody>
                    <a:bodyPr/>
                    <a:lstStyle/>
                    <a:p>
                      <a:r>
                        <a:rPr lang="en-US" sz="1400" dirty="0"/>
                        <a:t>X2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50050">
                <a:tc>
                  <a:txBody>
                    <a:bodyPr/>
                    <a:lstStyle/>
                    <a:p>
                      <a:r>
                        <a:rPr lang="en-US" sz="1400" dirty="0"/>
                        <a:t>X3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50050">
                <a:tc>
                  <a:txBody>
                    <a:bodyPr/>
                    <a:lstStyle/>
                    <a:p>
                      <a:r>
                        <a:rPr lang="en-US" sz="1400" dirty="0"/>
                        <a:t>X4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50050">
                <a:tc>
                  <a:txBody>
                    <a:bodyPr/>
                    <a:lstStyle/>
                    <a:p>
                      <a:r>
                        <a:rPr lang="en-US" sz="1400" dirty="0"/>
                        <a:t>X5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131840" y="1923678"/>
          <a:ext cx="2592288" cy="2754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1296144"/>
              </a:tblGrid>
              <a:tr h="45905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Class 2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59051">
                <a:tc>
                  <a:txBody>
                    <a:bodyPr/>
                    <a:lstStyle/>
                    <a:p>
                      <a:r>
                        <a:rPr lang="en-US" sz="1400" dirty="0"/>
                        <a:t>X1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59051">
                <a:tc>
                  <a:txBody>
                    <a:bodyPr/>
                    <a:lstStyle/>
                    <a:p>
                      <a:r>
                        <a:rPr lang="en-US" sz="1400" dirty="0"/>
                        <a:t>X2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59051">
                <a:tc>
                  <a:txBody>
                    <a:bodyPr/>
                    <a:lstStyle/>
                    <a:p>
                      <a:r>
                        <a:rPr lang="en-US" sz="1400" dirty="0"/>
                        <a:t>X3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59051">
                <a:tc>
                  <a:txBody>
                    <a:bodyPr/>
                    <a:lstStyle/>
                    <a:p>
                      <a:r>
                        <a:rPr lang="en-US" sz="1400" dirty="0"/>
                        <a:t>X4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59051">
                <a:tc>
                  <a:txBody>
                    <a:bodyPr/>
                    <a:lstStyle/>
                    <a:p>
                      <a:r>
                        <a:rPr lang="en-US" sz="1400" dirty="0"/>
                        <a:t>X5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084168" y="1923678"/>
          <a:ext cx="2448272" cy="27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45005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Class 3 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50050">
                <a:tc>
                  <a:txBody>
                    <a:bodyPr/>
                    <a:lstStyle/>
                    <a:p>
                      <a:r>
                        <a:rPr lang="en-US" sz="1400" dirty="0"/>
                        <a:t>X1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50050">
                <a:tc>
                  <a:txBody>
                    <a:bodyPr/>
                    <a:lstStyle/>
                    <a:p>
                      <a:r>
                        <a:rPr lang="en-US" sz="1400" dirty="0"/>
                        <a:t>X2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50050">
                <a:tc>
                  <a:txBody>
                    <a:bodyPr/>
                    <a:lstStyle/>
                    <a:p>
                      <a:r>
                        <a:rPr lang="en-US" sz="1400" dirty="0"/>
                        <a:t>X3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50050">
                <a:tc>
                  <a:txBody>
                    <a:bodyPr/>
                    <a:lstStyle/>
                    <a:p>
                      <a:r>
                        <a:rPr lang="en-US" sz="1400" dirty="0"/>
                        <a:t>X4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50050">
                <a:tc>
                  <a:txBody>
                    <a:bodyPr/>
                    <a:lstStyle/>
                    <a:p>
                      <a:r>
                        <a:rPr lang="en-US" sz="1400" dirty="0"/>
                        <a:t>X5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US" sz="1400" dirty="0"/>
                    </a:p>
                  </a:txBody>
                  <a:tcPr marT="34290" marB="34290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多标签</a:t>
            </a:r>
            <a:r>
              <a:rPr lang="en-US" altLang="zh-CN" dirty="0"/>
              <a:t>—&gt;</a:t>
            </a:r>
            <a:r>
              <a:rPr lang="zh-CN" altLang="en-US" dirty="0"/>
              <a:t>多分类</a:t>
            </a:r>
            <a:endParaRPr 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457200" y="1599640"/>
          <a:ext cx="7128840" cy="3078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105"/>
                <a:gridCol w="891105"/>
                <a:gridCol w="891105"/>
                <a:gridCol w="891105"/>
                <a:gridCol w="891105"/>
                <a:gridCol w="891105"/>
                <a:gridCol w="891105"/>
                <a:gridCol w="891105"/>
              </a:tblGrid>
              <a:tr h="798089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C1 C2</a:t>
                      </a:r>
                      <a:r>
                        <a:rPr lang="en-US" altLang="zh-CN" sz="1400" baseline="0" dirty="0"/>
                        <a:t> C3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C1 C2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C1 C3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C2 C3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C2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C3</a:t>
                      </a:r>
                      <a:endParaRPr lang="en-US" sz="1400" dirty="0"/>
                    </a:p>
                  </a:txBody>
                  <a:tcPr marT="34290" marB="34290"/>
                </a:tc>
              </a:tr>
              <a:tr h="456051">
                <a:tc>
                  <a:txBody>
                    <a:bodyPr/>
                    <a:lstStyle/>
                    <a:p>
                      <a:r>
                        <a:rPr lang="en-US" sz="1400" dirty="0"/>
                        <a:t>X1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34290" marB="34290"/>
                </a:tc>
              </a:tr>
              <a:tr h="456051">
                <a:tc>
                  <a:txBody>
                    <a:bodyPr/>
                    <a:lstStyle/>
                    <a:p>
                      <a:r>
                        <a:rPr lang="en-US" sz="1400" dirty="0"/>
                        <a:t>X2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</a:tr>
              <a:tr h="456051">
                <a:tc>
                  <a:txBody>
                    <a:bodyPr/>
                    <a:lstStyle/>
                    <a:p>
                      <a:r>
                        <a:rPr lang="en-US" sz="1400" dirty="0"/>
                        <a:t>X3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</a:tr>
              <a:tr h="456051">
                <a:tc>
                  <a:txBody>
                    <a:bodyPr/>
                    <a:lstStyle/>
                    <a:p>
                      <a:r>
                        <a:rPr lang="en-US" sz="1400" dirty="0"/>
                        <a:t>X4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</a:tr>
              <a:tr h="456051">
                <a:tc>
                  <a:txBody>
                    <a:bodyPr/>
                    <a:lstStyle/>
                    <a:p>
                      <a:r>
                        <a:rPr lang="en-US" sz="1400" dirty="0"/>
                        <a:t>X5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34290" marB="3429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err="1"/>
              <a:t>BCELoss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直接更换</a:t>
            </a:r>
            <a:r>
              <a:rPr lang="en-US" altLang="zh-CN" dirty="0"/>
              <a:t>loss</a:t>
            </a:r>
            <a:r>
              <a:rPr lang="zh-CN" altLang="en-US" dirty="0"/>
              <a:t>函数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7" y="1977684"/>
            <a:ext cx="9153719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84168" y="62753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--</a:t>
            </a:r>
            <a:r>
              <a:rPr lang="zh-CN" altLang="en-US" dirty="0">
                <a:solidFill>
                  <a:srgbClr val="FF0000"/>
                </a:solidFill>
              </a:rPr>
              <a:t>八斗人工智能，盗版必究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600" dirty="0"/>
              <a:t>电商评论分类：好评</a:t>
            </a:r>
            <a:r>
              <a:rPr lang="en-US" altLang="zh-CN" sz="1600" dirty="0"/>
              <a:t>/</a:t>
            </a:r>
            <a:r>
              <a:rPr lang="zh-CN" altLang="en-US" sz="1600" dirty="0"/>
              <a:t>差评</a:t>
            </a:r>
            <a:endParaRPr lang="en-US" altLang="zh-CN" sz="1600" dirty="0"/>
          </a:p>
          <a:p>
            <a:r>
              <a:rPr lang="zh-CN" altLang="en-US" sz="1600" dirty="0"/>
              <a:t>训练集</a:t>
            </a:r>
            <a:r>
              <a:rPr lang="en-US" altLang="zh-CN" sz="1600" dirty="0"/>
              <a:t>/</a:t>
            </a:r>
            <a:r>
              <a:rPr lang="zh-CN" altLang="en-US" sz="1600" dirty="0"/>
              <a:t>验证集划分   </a:t>
            </a:r>
            <a:endParaRPr lang="en-US" altLang="zh-CN" sz="1600" dirty="0"/>
          </a:p>
          <a:p>
            <a:r>
              <a:rPr lang="zh-CN" altLang="en-US" sz="1600" dirty="0"/>
              <a:t>数据分析：正负样本数，文本平均长度等</a:t>
            </a:r>
            <a:endParaRPr lang="en-US" altLang="zh-CN" sz="1600" dirty="0"/>
          </a:p>
          <a:p>
            <a:r>
              <a:rPr lang="zh-CN" altLang="en-US" sz="1600" dirty="0"/>
              <a:t>实验对比</a:t>
            </a:r>
            <a:r>
              <a:rPr lang="en-US" altLang="zh-CN" sz="1600" dirty="0"/>
              <a:t>3</a:t>
            </a:r>
            <a:r>
              <a:rPr lang="zh-CN" altLang="en-US" sz="1600" dirty="0"/>
              <a:t>种以上模型结构的分类效果</a:t>
            </a:r>
            <a:endParaRPr lang="en-US" altLang="zh-CN" sz="1600" dirty="0"/>
          </a:p>
          <a:p>
            <a:r>
              <a:rPr lang="zh-CN" altLang="en-US" sz="1600" dirty="0"/>
              <a:t>每种模型对比模型预测速度</a:t>
            </a:r>
            <a:endParaRPr lang="en-US" altLang="zh-CN" sz="1600" dirty="0"/>
          </a:p>
          <a:p>
            <a:r>
              <a:rPr lang="zh-CN" altLang="en-US" sz="1600" dirty="0"/>
              <a:t>总结成表格输出</a:t>
            </a:r>
            <a:endParaRPr lang="zh-CN" altLang="en-US" sz="16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11560" y="3075806"/>
          <a:ext cx="8064900" cy="1811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150"/>
                <a:gridCol w="1344150"/>
                <a:gridCol w="1344150"/>
                <a:gridCol w="1344150"/>
                <a:gridCol w="1344150"/>
                <a:gridCol w="1344150"/>
              </a:tblGrid>
              <a:tr h="714666">
                <a:tc>
                  <a:txBody>
                    <a:bodyPr/>
                    <a:lstStyle/>
                    <a:p>
                      <a:r>
                        <a:rPr lang="en-US" altLang="zh-CN" dirty="0"/>
                        <a:t>Model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Learning_Rate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Hidden_Size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acc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time(</a:t>
                      </a:r>
                      <a:r>
                        <a:rPr lang="zh-CN" altLang="en-US" dirty="0"/>
                        <a:t>预测</a:t>
                      </a:r>
                      <a:r>
                        <a:rPr lang="en-US" altLang="zh-CN" dirty="0"/>
                        <a:t>100</a:t>
                      </a:r>
                      <a:r>
                        <a:rPr lang="zh-CN" altLang="en-US" dirty="0"/>
                        <a:t>条耗时）</a:t>
                      </a:r>
                      <a:endParaRPr lang="zh-CN" altLang="en-US" dirty="0"/>
                    </a:p>
                  </a:txBody>
                  <a:tcPr/>
                </a:tc>
              </a:tr>
              <a:tr h="28983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28983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8983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0a676878-ce5f-40d2-bd5b-dbcba25d0f6a}"/>
  <p:tag name="TABLE_ENDDRAG_ORIGIN_RECT" val="519*186"/>
  <p:tag name="TABLE_ENDDRAG_RECT" val="109*270*519*186"/>
</p:tagLst>
</file>

<file path=ppt/tags/tag2.xml><?xml version="1.0" encoding="utf-8"?>
<p:tagLst xmlns:p="http://schemas.openxmlformats.org/presentationml/2006/main">
  <p:tag name="KSO_WM_UNIT_TABLE_BEAUTIFY" val="smartTable{0a676878-ce5f-40d2-bd5b-dbcba25d0f6a}"/>
  <p:tag name="TABLE_ENDDRAG_ORIGIN_RECT" val="519*186"/>
  <p:tag name="TABLE_ENDDRAG_RECT" val="109*270*519*18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流畅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流畅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5123</Words>
  <Application>WPS 演示</Application>
  <PresentationFormat>全屏显示(16:9)</PresentationFormat>
  <Paragraphs>769</Paragraphs>
  <Slides>52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52</vt:i4>
      </vt:variant>
    </vt:vector>
  </HeadingPairs>
  <TitlesOfParts>
    <vt:vector size="68" baseType="lpstr">
      <vt:lpstr>Arial</vt:lpstr>
      <vt:lpstr>宋体</vt:lpstr>
      <vt:lpstr>Wingdings</vt:lpstr>
      <vt:lpstr>等线 Light</vt:lpstr>
      <vt:lpstr>微软雅黑</vt:lpstr>
      <vt:lpstr>Arial Unicode MS</vt:lpstr>
      <vt:lpstr>Calibri</vt:lpstr>
      <vt:lpstr>Calibri Light</vt:lpstr>
      <vt:lpstr>等线</vt:lpstr>
      <vt:lpstr>Office 主题​​</vt:lpstr>
      <vt:lpstr>流畅</vt:lpstr>
      <vt:lpstr>1_流畅</vt:lpstr>
      <vt:lpstr>Equation.KSEE3</vt:lpstr>
      <vt:lpstr>Equation.KSEE3</vt:lpstr>
      <vt:lpstr>Equation.KSEE3</vt:lpstr>
      <vt:lpstr>Equation.KSEE3</vt:lpstr>
      <vt:lpstr>文本分类任务</vt:lpstr>
      <vt:lpstr>文本分类任务</vt:lpstr>
      <vt:lpstr>文本分类-使用场景</vt:lpstr>
      <vt:lpstr>文本分类-使用场景</vt:lpstr>
      <vt:lpstr>文本分类-使用场景</vt:lpstr>
      <vt:lpstr>文本分类-使用场景</vt:lpstr>
      <vt:lpstr>自定义类别任务</vt:lpstr>
      <vt:lpstr>文本分类-机器学习</vt:lpstr>
      <vt:lpstr>PowerPoint 演示文稿</vt:lpstr>
      <vt:lpstr>预备知识</vt:lpstr>
      <vt:lpstr>贝叶斯公式</vt:lpstr>
      <vt:lpstr>贝叶斯公式的应用</vt:lpstr>
      <vt:lpstr>贝叶斯公式的应用</vt:lpstr>
      <vt:lpstr>贝叶斯公式在NLP中的应用</vt:lpstr>
      <vt:lpstr>贝叶斯公式-文本分类</vt:lpstr>
      <vt:lpstr>贝叶斯算法的缺点</vt:lpstr>
      <vt:lpstr>贝叶斯算法优点</vt:lpstr>
      <vt:lpstr>PowerPoint 演示文稿</vt:lpstr>
      <vt:lpstr>支持向量机</vt:lpstr>
      <vt:lpstr>支持向量机</vt:lpstr>
      <vt:lpstr>支持向量机</vt:lpstr>
      <vt:lpstr>支持向量机</vt:lpstr>
      <vt:lpstr>支持向量机</vt:lpstr>
      <vt:lpstr>支持向量机</vt:lpstr>
      <vt:lpstr>支持向量机-核函数</vt:lpstr>
      <vt:lpstr>支持向量机-核函数</vt:lpstr>
      <vt:lpstr>支持向量机-核函数</vt:lpstr>
      <vt:lpstr>支持向量机-核函数</vt:lpstr>
      <vt:lpstr>支持向量机-解决多分类</vt:lpstr>
      <vt:lpstr>支持向量机-解决多分类</vt:lpstr>
      <vt:lpstr>支持向量机-优点</vt:lpstr>
      <vt:lpstr>支持向量机-缺点</vt:lpstr>
      <vt:lpstr>PowerPoint 演示文稿</vt:lpstr>
      <vt:lpstr>深度学习-pipeline</vt:lpstr>
      <vt:lpstr>文本分类-fastText</vt:lpstr>
      <vt:lpstr>文本分类-TextRNN</vt:lpstr>
      <vt:lpstr>文本分类-RNN</vt:lpstr>
      <vt:lpstr>文本分类-LSTM</vt:lpstr>
      <vt:lpstr>文本分类-TextCNN</vt:lpstr>
      <vt:lpstr>文本分类-Gated CNN</vt:lpstr>
      <vt:lpstr>文本分类-TextRCNN</vt:lpstr>
      <vt:lpstr>文本分类-Bert</vt:lpstr>
      <vt:lpstr>文本分类-Bert</vt:lpstr>
      <vt:lpstr>数据稀疏问题</vt:lpstr>
      <vt:lpstr>标签不均衡问题</vt:lpstr>
      <vt:lpstr>多标签分类问题</vt:lpstr>
      <vt:lpstr>多标签分类</vt:lpstr>
      <vt:lpstr>多标签分类</vt:lpstr>
      <vt:lpstr>多次二分类</vt:lpstr>
      <vt:lpstr>多标签—&gt;多分类</vt:lpstr>
      <vt:lpstr>BCELoss</vt:lpstr>
      <vt:lpstr>练习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自然语言处理的发展与挑战</dc:title>
  <dc:creator>Zimo Yin</dc:creator>
  <cp:lastModifiedBy>何提</cp:lastModifiedBy>
  <cp:revision>491</cp:revision>
  <dcterms:created xsi:type="dcterms:W3CDTF">2021-01-13T12:57:00Z</dcterms:created>
  <dcterms:modified xsi:type="dcterms:W3CDTF">2025-11-30T14:16:54Z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2EB254C953674516BA87B026B1F30D0D_12</vt:lpwstr>
  </property>
</Properties>
</file>