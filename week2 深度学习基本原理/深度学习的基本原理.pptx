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367" r:id="rId3"/>
    <p:sldId id="258" r:id="rId4"/>
    <p:sldId id="259" r:id="rId5"/>
    <p:sldId id="260" r:id="rId6"/>
    <p:sldId id="261" r:id="rId7"/>
    <p:sldId id="273" r:id="rId8"/>
    <p:sldId id="411" r:id="rId9"/>
    <p:sldId id="262" r:id="rId10"/>
    <p:sldId id="412" r:id="rId11"/>
    <p:sldId id="328" r:id="rId12"/>
    <p:sldId id="330" r:id="rId13"/>
    <p:sldId id="331" r:id="rId14"/>
    <p:sldId id="329" r:id="rId15"/>
    <p:sldId id="376" r:id="rId16"/>
    <p:sldId id="368" r:id="rId17"/>
    <p:sldId id="369" r:id="rId18"/>
    <p:sldId id="441" r:id="rId19"/>
    <p:sldId id="370" r:id="rId20"/>
    <p:sldId id="373" r:id="rId21"/>
    <p:sldId id="374" r:id="rId22"/>
    <p:sldId id="375" r:id="rId23"/>
    <p:sldId id="378" r:id="rId24"/>
    <p:sldId id="377" r:id="rId25"/>
    <p:sldId id="372" r:id="rId26"/>
    <p:sldId id="371" r:id="rId27"/>
    <p:sldId id="322" r:id="rId28"/>
    <p:sldId id="379" r:id="rId29"/>
    <p:sldId id="332" r:id="rId30"/>
    <p:sldId id="263" r:id="rId31"/>
    <p:sldId id="269" r:id="rId32"/>
    <p:sldId id="270" r:id="rId33"/>
    <p:sldId id="271" r:id="rId34"/>
    <p:sldId id="272" r:id="rId35"/>
    <p:sldId id="404" r:id="rId36"/>
    <p:sldId id="341" r:id="rId37"/>
    <p:sldId id="275" r:id="rId38"/>
    <p:sldId id="283" r:id="rId39"/>
    <p:sldId id="442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636" y="114"/>
      </p:cViewPr>
      <p:guideLst>
        <p:guide orient="horz" pos="2160"/>
        <p:guide pos="38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56CBD-69C8-4EE0-A134-F9B3D45907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53860-41EE-41B6-A393-957165903E9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53860-41EE-41B6-A393-957165903E91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深度学习的基本原理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八斗人工智能学院</a:t>
            </a:r>
            <a:endParaRPr lang="en-US" altLang="zh-CN" dirty="0"/>
          </a:p>
          <a:p>
            <a:r>
              <a:rPr lang="zh-CN" altLang="en-US" dirty="0"/>
              <a:t>宋学林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4556760" y="2967335"/>
            <a:ext cx="3078480" cy="9144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数学基础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07760" y="62925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</a:t>
            </a:r>
            <a:r>
              <a:rPr lang="en-US" altLang="zh-CN" dirty="0"/>
              <a:t>-</a:t>
            </a:r>
            <a:r>
              <a:rPr lang="zh-CN" altLang="en-US" dirty="0"/>
              <a:t>标量和向量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zh-CN" altLang="en-US" dirty="0"/>
              <a:t>标量  </a:t>
            </a:r>
            <a:r>
              <a:rPr lang="en-US" altLang="zh-CN" dirty="0"/>
              <a:t>Scalar</a:t>
            </a:r>
          </a:p>
          <a:p>
            <a:pPr>
              <a:buFont typeface="Arial" charset="0"/>
              <a:buChar char="•"/>
            </a:pPr>
            <a:r>
              <a:rPr lang="zh-CN" altLang="en-US" dirty="0"/>
              <a:t>一个标量就是一个单独的数</a:t>
            </a:r>
            <a:endParaRPr lang="en-US" altLang="zh-CN" dirty="0"/>
          </a:p>
          <a:p>
            <a:pPr>
              <a:buFont typeface="Arial" charset="0"/>
              <a:buChar char="•"/>
            </a:pPr>
            <a:endParaRPr lang="en-US" dirty="0"/>
          </a:p>
          <a:p>
            <a:pPr>
              <a:buFont typeface="Arial" charset="0"/>
              <a:buChar char="•"/>
            </a:pPr>
            <a:r>
              <a:rPr lang="zh-CN" altLang="en-US" dirty="0"/>
              <a:t>向量  </a:t>
            </a:r>
            <a:r>
              <a:rPr lang="en-US" altLang="zh-CN" dirty="0"/>
              <a:t>Vector</a:t>
            </a:r>
          </a:p>
          <a:p>
            <a:pPr>
              <a:buFont typeface="Arial" charset="0"/>
              <a:buChar char="•"/>
            </a:pPr>
            <a:r>
              <a:rPr lang="zh-CN" altLang="en-US" dirty="0"/>
              <a:t>一个向量是一列数</a:t>
            </a:r>
            <a:endParaRPr lang="en-US" altLang="zh-CN" dirty="0"/>
          </a:p>
          <a:p>
            <a:pPr>
              <a:buFont typeface="Arial" charset="0"/>
              <a:buChar char="•"/>
            </a:pPr>
            <a:r>
              <a:rPr lang="zh-CN" altLang="en-US" dirty="0"/>
              <a:t>可以把向量看做空间中的点，每个元素是不同坐标轴上的坐标</a:t>
            </a:r>
            <a:endParaRPr lang="en-US" altLang="zh-CN" dirty="0"/>
          </a:p>
          <a:p>
            <a:pPr>
              <a:buFont typeface="Arial" charset="0"/>
              <a:buChar char="•"/>
            </a:pPr>
            <a:r>
              <a:rPr lang="zh-CN" altLang="en-US" dirty="0"/>
              <a:t>向量中有几个数，就叫几维向量</a:t>
            </a:r>
            <a:endParaRPr lang="en-US" altLang="zh-CN" dirty="0"/>
          </a:p>
          <a:p>
            <a:pPr>
              <a:buFont typeface="Arial" charset="0"/>
              <a:buChar char="•"/>
            </a:pPr>
            <a:r>
              <a:rPr lang="zh-CN" altLang="en-US" dirty="0"/>
              <a:t>如</a:t>
            </a:r>
            <a:r>
              <a:rPr lang="en-US" altLang="zh-CN" dirty="0"/>
              <a:t>4</a:t>
            </a:r>
            <a:r>
              <a:rPr lang="zh-CN" altLang="en-US" dirty="0"/>
              <a:t>维向量：</a:t>
            </a:r>
            <a:r>
              <a:rPr lang="en-US" altLang="zh-CN" dirty="0"/>
              <a:t>[1,2,3,4]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52" y="4812744"/>
            <a:ext cx="2171552" cy="1870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</a:t>
            </a:r>
            <a:r>
              <a:rPr lang="en-US" altLang="zh-CN" dirty="0"/>
              <a:t>-</a:t>
            </a:r>
            <a:r>
              <a:rPr lang="zh-CN" altLang="en-US" dirty="0"/>
              <a:t>向量运算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向量加和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 +B = B + A      </a:t>
                </a:r>
                <a:r>
                  <a:rPr lang="zh-CN" altLang="en-US" dirty="0"/>
                  <a:t>需要维度相同</a:t>
                </a:r>
                <a:endParaRPr lang="en-US" altLang="zh-CN" dirty="0"/>
              </a:p>
              <a:p>
                <a:r>
                  <a:rPr lang="en-US" dirty="0"/>
                  <a:t>[1,2] + [3,4] = [4, 6]</a:t>
                </a:r>
              </a:p>
              <a:p>
                <a:endParaRPr lang="en-US" dirty="0"/>
              </a:p>
              <a:p>
                <a:r>
                  <a:rPr lang="zh-CN" altLang="en-US" dirty="0"/>
                  <a:t>向量内积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 </a:t>
                </a:r>
                <a:r>
                  <a:rPr lang="en-US" dirty="0"/>
                  <a:t>A * B = B * A      </a:t>
                </a:r>
                <a:r>
                  <a:rPr lang="zh-CN" altLang="en-US" dirty="0"/>
                  <a:t>需要维度相同</a:t>
                </a:r>
                <a:endParaRPr lang="en-US" dirty="0"/>
              </a:p>
              <a:p>
                <a:r>
                  <a:rPr lang="en-US" dirty="0"/>
                  <a:t>[1,2] * [3, 4] = 1 * 3 + 2* 4 = 11</a:t>
                </a:r>
              </a:p>
              <a:p>
                <a:endParaRPr lang="en-US" dirty="0"/>
              </a:p>
              <a:p>
                <a:r>
                  <a:rPr lang="zh-CN" altLang="en-US" dirty="0"/>
                  <a:t>向量夹角余弦值                   需要维度相同</a:t>
                </a:r>
                <a:endParaRPr lang="en-US" altLang="zh-CN" dirty="0"/>
              </a:p>
              <a:p>
                <a:r>
                  <a:rPr lang="en-US" altLang="zh-CN" dirty="0"/>
                  <a:t>Cos</a:t>
                </a:r>
                <a:r>
                  <a:rPr lang="el-GR" altLang="zh-CN" dirty="0"/>
                  <a:t>θ</a:t>
                </a:r>
                <a:r>
                  <a:rPr lang="en-US" altLang="zh-CN" dirty="0"/>
                  <a:t> = A * B / |A|·|B|</a:t>
                </a:r>
              </a:p>
              <a:p>
                <a:r>
                  <a:rPr lang="zh-CN" altLang="en-US" dirty="0"/>
                  <a:t>向量的模 </a:t>
                </a:r>
                <a:r>
                  <a:rPr lang="en-US" altLang="zh-CN" dirty="0"/>
                  <a:t>|A|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altLang="zh-CN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altLang="zh-CN" b="0" i="0" baseline="3000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altLang="zh-CN" dirty="0"/>
                          <m:t> + </m:t>
                        </m:r>
                        <m:r>
                          <m:rPr>
                            <m:nor/>
                          </m:rPr>
                          <a:rPr lang="en-US" altLang="zh-C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altLang="zh-CN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altLang="zh-CN" b="0" i="0" baseline="3000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altLang="zh-CN" dirty="0"/>
                          <m:t> … </m:t>
                        </m:r>
                        <m:r>
                          <m:rPr>
                            <m:nor/>
                          </m:rPr>
                          <a:rPr lang="en-US" altLang="zh-C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altLang="zh-CN" baseline="-25000" dirty="0"/>
                          <m:t>n</m:t>
                        </m:r>
                        <m:r>
                          <a:rPr lang="en-US" altLang="zh-CN" b="0" i="1" baseline="30000" dirty="0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28" t="-3922" b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</a:t>
            </a:r>
            <a:r>
              <a:rPr lang="en-US" altLang="zh-CN" dirty="0"/>
              <a:t>-</a:t>
            </a:r>
            <a:r>
              <a:rPr lang="zh-CN" altLang="en-US" dirty="0"/>
              <a:t>矩阵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矩阵  </a:t>
                </a:r>
                <a:r>
                  <a:rPr lang="en-US" altLang="zh-CN" dirty="0"/>
                  <a:t>matrix</a:t>
                </a:r>
              </a:p>
              <a:p>
                <a:r>
                  <a:rPr lang="zh-CN" altLang="en-US" dirty="0"/>
                  <a:t>是一个二维数组。矩阵中的每一个值是一个标量，可以通过行号和列号进行索引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2 x 2</a:t>
                </a:r>
                <a:r>
                  <a:rPr lang="zh-CN" altLang="en-US" dirty="0"/>
                  <a:t>的矩阵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5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3 x 2</a:t>
                </a:r>
                <a:r>
                  <a:rPr lang="zh-CN" altLang="en-US" dirty="0"/>
                  <a:t>的矩阵</a:t>
                </a:r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矩阵加法                        需要维度相同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28" t="-2941" b="-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</a:t>
            </a:r>
            <a:r>
              <a:rPr lang="en-US" altLang="zh-CN" dirty="0"/>
              <a:t>-</a:t>
            </a:r>
            <a:r>
              <a:rPr lang="zh-CN" altLang="en-US" dirty="0"/>
              <a:t>矩阵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charset="0"/>
              <a:buChar char="•"/>
            </a:pPr>
            <a:r>
              <a:rPr lang="zh-CN" altLang="en-US" dirty="0"/>
              <a:t>矩阵乘法</a:t>
            </a:r>
            <a:endParaRPr lang="en-US" altLang="zh-CN" dirty="0"/>
          </a:p>
          <a:p>
            <a:pPr marL="457200" indent="-457200">
              <a:buFont typeface="Arial" charset="0"/>
              <a:buChar char="•"/>
            </a:pPr>
            <a:r>
              <a:rPr lang="zh-CN" altLang="en-US" dirty="0"/>
              <a:t>不满足交换律   </a:t>
            </a:r>
            <a:r>
              <a:rPr lang="en-US" altLang="zh-CN" dirty="0"/>
              <a:t>A </a:t>
            </a:r>
            <a:r>
              <a:rPr lang="zh-CN" altLang="en-US" dirty="0"/>
              <a:t>* </a:t>
            </a:r>
            <a:r>
              <a:rPr lang="en-US" altLang="zh-CN" dirty="0"/>
              <a:t>B != B</a:t>
            </a:r>
            <a:r>
              <a:rPr lang="zh-CN" altLang="en-US" dirty="0"/>
              <a:t>* </a:t>
            </a:r>
            <a:r>
              <a:rPr lang="en-US" altLang="zh-CN" dirty="0"/>
              <a:t>A</a:t>
            </a:r>
          </a:p>
          <a:p>
            <a:pPr marL="457200" indent="-457200">
              <a:buFont typeface="Arial" charset="0"/>
              <a:buChar char="•"/>
            </a:pPr>
            <a:r>
              <a:rPr lang="zh-CN" altLang="en-US" dirty="0"/>
              <a:t>当左矩阵</a:t>
            </a:r>
            <a:r>
              <a:rPr lang="en-US" altLang="zh-CN" dirty="0"/>
              <a:t>A</a:t>
            </a:r>
            <a:r>
              <a:rPr lang="zh-CN" altLang="en-US" dirty="0"/>
              <a:t>的列数等于右矩阵</a:t>
            </a:r>
            <a:r>
              <a:rPr lang="en-US" altLang="zh-CN" dirty="0"/>
              <a:t>B</a:t>
            </a:r>
            <a:r>
              <a:rPr lang="zh-CN" altLang="en-US" dirty="0"/>
              <a:t>的行数时，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可以相乘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zh-CN" b="1" dirty="0"/>
              <a:t>M x N </a:t>
            </a:r>
            <a:r>
              <a:rPr lang="zh-CN" altLang="en-US" b="1" dirty="0"/>
              <a:t>矩阵乘以 </a:t>
            </a:r>
            <a:r>
              <a:rPr lang="en-US" altLang="zh-CN" b="1" dirty="0"/>
              <a:t>N x P</a:t>
            </a:r>
            <a:r>
              <a:rPr lang="zh-CN" altLang="en-US" b="1" dirty="0"/>
              <a:t>矩阵得到</a:t>
            </a:r>
            <a:r>
              <a:rPr lang="en-US" altLang="zh-CN" b="1" dirty="0"/>
              <a:t>M x P</a:t>
            </a:r>
            <a:r>
              <a:rPr lang="zh-CN" altLang="en-US" b="1" dirty="0"/>
              <a:t>维度矩阵</a:t>
            </a:r>
            <a:endParaRPr lang="en-US" altLang="zh-CN" b="1" dirty="0"/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624" y="4365708"/>
            <a:ext cx="3142104" cy="85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4226036"/>
            <a:ext cx="2448272" cy="1129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184" y="5445224"/>
            <a:ext cx="7537648" cy="1172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</a:t>
            </a:r>
            <a:r>
              <a:rPr lang="en-US" altLang="zh-CN" dirty="0"/>
              <a:t>-</a:t>
            </a:r>
            <a:r>
              <a:rPr lang="zh-CN" altLang="en-US" dirty="0"/>
              <a:t>矩阵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符合分配律</a:t>
                </a:r>
                <a:endParaRPr lang="en-US" altLang="zh-CN" dirty="0"/>
              </a:p>
              <a:p>
                <a:r>
                  <a:rPr lang="en-US" altLang="zh-CN" dirty="0"/>
                  <a:t>A*(B+C) = A*B + A * C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符合结合律</a:t>
                </a:r>
                <a:endParaRPr lang="en-US" altLang="zh-CN" dirty="0"/>
              </a:p>
              <a:p>
                <a:r>
                  <a:rPr lang="en-US" altLang="zh-CN" dirty="0"/>
                  <a:t>A </a:t>
                </a:r>
                <a:r>
                  <a:rPr lang="zh-CN" altLang="en-US" dirty="0"/>
                  <a:t>* </a:t>
                </a:r>
                <a:r>
                  <a:rPr lang="en-US" altLang="zh-CN" dirty="0"/>
                  <a:t>(B </a:t>
                </a:r>
                <a:r>
                  <a:rPr lang="zh-CN" altLang="en-US" dirty="0"/>
                  <a:t>* </a:t>
                </a:r>
                <a:r>
                  <a:rPr lang="en-US" altLang="zh-CN" dirty="0"/>
                  <a:t>C) = (A * B) * C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另一种矩阵乘法 </a:t>
                </a:r>
                <a:r>
                  <a:rPr lang="en-US" altLang="zh-CN" dirty="0"/>
                  <a:t>– </a:t>
                </a:r>
                <a:r>
                  <a:rPr lang="zh-CN" altLang="en-US" dirty="0"/>
                  <a:t>矩阵点乘</a:t>
                </a:r>
                <a:endParaRPr lang="en-US" altLang="zh-CN" dirty="0"/>
              </a:p>
              <a:p>
                <a:r>
                  <a:rPr lang="zh-CN" altLang="en-US" dirty="0"/>
                  <a:t>两矩阵必须形状一致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  </m:t>
                    </m:r>
                    <m:r>
                      <a:rPr lang="en-US" altLang="zh-CN" b="0" i="1" smtClean="0">
                        <a:latin typeface="Cambria Math"/>
                      </a:rPr>
                      <m:t>·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     </m:t>
                    </m:r>
                    <m:r>
                      <a:rPr lang="en-US" altLang="zh-CN" b="0" i="1" smtClean="0">
                        <a:latin typeface="Cambria Math"/>
                      </a:rPr>
                      <m:t>=    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3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常见矩阵操作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矩阵转置（行列互换 </a:t>
            </a:r>
            <a:r>
              <a:rPr lang="en-US" altLang="zh-CN">
                <a:sym typeface="+mn-ea"/>
              </a:rPr>
              <a:t>transpose</a:t>
            </a:r>
            <a:r>
              <a:rPr lang="zh-CN" altLang="en-US"/>
              <a:t>）                  向量 </a:t>
            </a:r>
            <a:r>
              <a:rPr lang="en-US" altLang="zh-CN"/>
              <a:t>&lt; ==== &gt; </a:t>
            </a:r>
            <a:r>
              <a:rPr lang="zh-CN" altLang="en-US"/>
              <a:t>矩阵</a:t>
            </a: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5" y="3213100"/>
            <a:ext cx="2578735" cy="22567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83615" y="5445125"/>
            <a:ext cx="300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3x2</a:t>
            </a:r>
            <a:r>
              <a:rPr lang="zh-CN" altLang="en-US"/>
              <a:t>的矩阵        </a:t>
            </a:r>
            <a:r>
              <a:rPr lang="en-US" altLang="zh-CN"/>
              <a:t>2x3</a:t>
            </a:r>
            <a:r>
              <a:rPr lang="zh-CN" altLang="en-US"/>
              <a:t>的矩阵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83615" y="2780665"/>
            <a:ext cx="300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2x2</a:t>
            </a:r>
            <a:r>
              <a:rPr lang="zh-CN" altLang="en-US"/>
              <a:t>的矩阵        </a:t>
            </a:r>
            <a:r>
              <a:rPr lang="en-US" altLang="zh-CN"/>
              <a:t>2x2</a:t>
            </a:r>
            <a:r>
              <a:rPr lang="zh-CN" altLang="en-US"/>
              <a:t>的矩阵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032625" y="2926715"/>
            <a:ext cx="442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[1 2 3 4]   --reshape 2x2 --&gt;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840" y="2782570"/>
            <a:ext cx="723900" cy="8077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32625" y="4006850"/>
            <a:ext cx="442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[1 2 3 4 5 6]   --reshape 3x2 --&gt; 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4740" y="3718560"/>
            <a:ext cx="693420" cy="998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25" y="4870450"/>
            <a:ext cx="693420" cy="9982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52715" y="5086985"/>
            <a:ext cx="442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-- flatten --&gt;   </a:t>
            </a:r>
            <a:r>
              <a:rPr lang="en-US" altLang="zh-CN">
                <a:sym typeface="+mn-ea"/>
              </a:rPr>
              <a:t>[1 2 3 4 5 6] 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968615" y="5878830"/>
            <a:ext cx="270256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矩阵展平为向量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32625" y="4006850"/>
            <a:ext cx="442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[1 2 3 4 5 6]   --reshape 3x2 --&gt;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752715" y="5086985"/>
            <a:ext cx="442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-- flatten --&gt;   </a:t>
            </a:r>
            <a:r>
              <a:rPr lang="en-US" altLang="zh-CN">
                <a:sym typeface="+mn-ea"/>
              </a:rPr>
              <a:t>[1 2 3 4 5 6]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968615" y="5878830"/>
            <a:ext cx="270256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矩阵展平为向量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</a:t>
            </a:r>
            <a:r>
              <a:rPr lang="en-US" altLang="zh-CN" dirty="0"/>
              <a:t>-</a:t>
            </a:r>
            <a:r>
              <a:rPr lang="zh-CN" altLang="en-US" dirty="0"/>
              <a:t>张量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zh-CN" altLang="en-US" dirty="0"/>
              <a:t>张量   </a:t>
            </a:r>
            <a:r>
              <a:rPr lang="en-US" altLang="zh-CN" dirty="0"/>
              <a:t>tensor</a:t>
            </a:r>
          </a:p>
          <a:p>
            <a:pPr>
              <a:buFont typeface="Arial" charset="0"/>
              <a:buChar char="•"/>
            </a:pPr>
            <a:r>
              <a:rPr lang="zh-CN" altLang="en-US" dirty="0"/>
              <a:t>将三个</a:t>
            </a:r>
            <a:r>
              <a:rPr lang="en-US" altLang="zh-CN" dirty="0"/>
              <a:t>2 x 2</a:t>
            </a:r>
            <a:r>
              <a:rPr lang="zh-CN" altLang="en-US" dirty="0"/>
              <a:t>的矩阵排列在一起，就可以称为一个 </a:t>
            </a:r>
            <a:r>
              <a:rPr lang="en-US" altLang="zh-CN" dirty="0"/>
              <a:t>3 x 2 x 2</a:t>
            </a:r>
            <a:r>
              <a:rPr lang="zh-CN" altLang="en-US" dirty="0"/>
              <a:t>的张量。</a:t>
            </a:r>
            <a:endParaRPr lang="en-US" altLang="zh-CN" dirty="0"/>
          </a:p>
          <a:p>
            <a:pPr>
              <a:buFont typeface="Arial" charset="0"/>
              <a:buChar char="•"/>
            </a:pPr>
            <a:r>
              <a:rPr lang="zh-CN" altLang="en-US" dirty="0"/>
              <a:t>将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3 x 2 x 2</a:t>
            </a:r>
            <a:r>
              <a:rPr lang="zh-CN" altLang="en-US" dirty="0"/>
              <a:t>的张量排列在一起，就可以成为一个 </a:t>
            </a:r>
            <a:r>
              <a:rPr lang="en-US" altLang="zh-CN" dirty="0"/>
              <a:t>4 x 3 x 2 x 2</a:t>
            </a:r>
            <a:r>
              <a:rPr lang="zh-CN" altLang="en-US" dirty="0"/>
              <a:t>维度的张量。</a:t>
            </a:r>
            <a:endParaRPr lang="en-US" altLang="zh-CN" dirty="0"/>
          </a:p>
          <a:p>
            <a:pPr>
              <a:buFont typeface="Arial" charset="0"/>
              <a:buChar char="•"/>
            </a:pPr>
            <a:r>
              <a:rPr lang="zh-CN" altLang="en-US" b="1" dirty="0"/>
              <a:t>张量是神经网络的训练中最为常见的数据形式。</a:t>
            </a:r>
            <a:endParaRPr lang="en-US" altLang="zh-CN" b="1" dirty="0"/>
          </a:p>
          <a:p>
            <a:pPr>
              <a:buFont typeface="Arial" charset="0"/>
              <a:buChar char="•"/>
            </a:pPr>
            <a:r>
              <a:rPr lang="zh-CN" altLang="en-US" b="1" dirty="0"/>
              <a:t>所有的输入，输出，中间结果，几乎都是以张量的形式存在。</a:t>
            </a:r>
            <a:endParaRPr 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355" y="4940935"/>
            <a:ext cx="1650365" cy="1604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常见张量操作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5" y="2853055"/>
            <a:ext cx="1572260" cy="1529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849" y="2968625"/>
            <a:ext cx="1532255" cy="1491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360" y="2924810"/>
            <a:ext cx="1654175" cy="1535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03705" y="2204720"/>
            <a:ext cx="622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x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972214" y="2249170"/>
            <a:ext cx="1899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x.transpose(1, 2)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236075" y="2277110"/>
            <a:ext cx="189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x.view</a:t>
            </a:r>
            <a:r>
              <a:rPr lang="en-US" altLang="zh-CN" dirty="0"/>
              <a:t>(4, 2)</a:t>
            </a:r>
          </a:p>
          <a:p>
            <a:endParaRPr lang="en-US" altLang="zh-CN" dirty="0"/>
          </a:p>
        </p:txBody>
      </p:sp>
      <p:sp>
        <p:nvSpPr>
          <p:cNvPr id="13" name="文本框 12"/>
          <p:cNvSpPr txBox="1"/>
          <p:nvPr/>
        </p:nvSpPr>
        <p:spPr>
          <a:xfrm>
            <a:off x="911860" y="4797425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x.shape = 2 x 2 x 2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00459" y="4769485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x.shape = 2 x 2 x 2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832215" y="4797425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x.shape = 4 x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numpy</a:t>
            </a:r>
            <a:r>
              <a:rPr lang="zh-CN" altLang="en-US"/>
              <a:t>常用操作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1" y="1847216"/>
            <a:ext cx="8686165" cy="2073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4053840"/>
            <a:ext cx="8201025" cy="27051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numpy</a:t>
            </a:r>
            <a:r>
              <a:rPr lang="zh-CN" altLang="en-US" dirty="0"/>
              <a:t>常用操作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739" y="1899150"/>
            <a:ext cx="8221222" cy="42106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numpy</a:t>
            </a:r>
            <a:r>
              <a:rPr lang="zh-CN" altLang="en-US" dirty="0"/>
              <a:t>常用操作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1" y="2320925"/>
            <a:ext cx="8985885" cy="3742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numpy</a:t>
            </a:r>
            <a:r>
              <a:rPr lang="zh-CN" altLang="en-US" dirty="0"/>
              <a:t>常用操作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806" y="2132965"/>
            <a:ext cx="8201025" cy="1962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5" y="4381500"/>
            <a:ext cx="8208010" cy="1920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导数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560" y="1412875"/>
            <a:ext cx="7884160" cy="13582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95" y="2780665"/>
            <a:ext cx="6488430" cy="39770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28660" y="3284855"/>
            <a:ext cx="3709035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导数表示函数变化的方向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常见导数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295" y="1701165"/>
            <a:ext cx="4288155" cy="5114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1628775"/>
            <a:ext cx="3307080" cy="2755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求导法则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加（减）法则：[f(x)+g(x)]'=f(x)'+g(x)'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乘法法则：[f(x)*g(x)]'=f(x)'*g(x)+g(x)'*f(x)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除法法则：[f(x)/g(x)]'=[f(x)'*g(x)-g(x)'*f(x)]/g(x)</a:t>
            </a:r>
            <a:r>
              <a:rPr lang="zh-CN" altLang="en-US" baseline="30000" dirty="0"/>
              <a:t>2</a:t>
            </a:r>
            <a:endParaRPr lang="en-US" altLang="zh-CN" baseline="30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链式法则：若</a:t>
            </a:r>
            <a:r>
              <a:rPr lang="en-US" dirty="0"/>
              <a:t>h(x)=f(g(x))，</a:t>
            </a:r>
            <a:r>
              <a:rPr lang="zh-CN" altLang="en-US" dirty="0"/>
              <a:t>则</a:t>
            </a:r>
            <a:r>
              <a:rPr lang="en-US" dirty="0"/>
              <a:t>h'(x)=f'(g(x))g'(x)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en-US" altLang="zh-CN" baseline="30000" dirty="0"/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链式求导示例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1916430"/>
            <a:ext cx="3017520" cy="3352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685" y="1844675"/>
            <a:ext cx="3055620" cy="33680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00" y="1772920"/>
            <a:ext cx="2979420" cy="35204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505" y="1916430"/>
            <a:ext cx="2834640" cy="32918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32860" y="2967335"/>
            <a:ext cx="4526280" cy="9144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梯度下降算法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07760" y="62925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5" y="1916430"/>
            <a:ext cx="5962650" cy="44526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找极小值问题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07760" y="62925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80100" y="2348865"/>
            <a:ext cx="6376035" cy="3020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函数</a:t>
            </a:r>
            <a:r>
              <a:rPr lang="en-US" altLang="zh-CN" sz="2400"/>
              <a:t>f(x)</a:t>
            </a:r>
            <a:r>
              <a:rPr lang="zh-CN" altLang="en-US" sz="2400"/>
              <a:t>的值受</a:t>
            </a:r>
            <a:r>
              <a:rPr lang="en-US" altLang="zh-CN" sz="2400"/>
              <a:t>x</a:t>
            </a:r>
            <a:r>
              <a:rPr lang="zh-CN" altLang="en-US" sz="2400"/>
              <a:t>影响</a:t>
            </a:r>
          </a:p>
          <a:p>
            <a:endParaRPr lang="zh-CN" altLang="en-US" sz="2400"/>
          </a:p>
          <a:p>
            <a:r>
              <a:rPr lang="zh-CN" altLang="en-US" sz="2400"/>
              <a:t>目标：找到合适的</a:t>
            </a:r>
            <a:r>
              <a:rPr lang="en-US" altLang="zh-CN" sz="2400"/>
              <a:t>x</a:t>
            </a:r>
            <a:r>
              <a:rPr lang="zh-CN" altLang="en-US" sz="2400"/>
              <a:t>值，使得</a:t>
            </a:r>
            <a:r>
              <a:rPr lang="en-US" altLang="zh-CN" sz="2400"/>
              <a:t>f(x)</a:t>
            </a:r>
            <a:r>
              <a:rPr lang="zh-CN" altLang="en-US" sz="2400"/>
              <a:t>最小</a:t>
            </a:r>
          </a:p>
          <a:p>
            <a:endParaRPr lang="zh-CN" altLang="en-US" sz="2400"/>
          </a:p>
          <a:p>
            <a:r>
              <a:rPr lang="zh-CN" altLang="en-US" sz="2400"/>
              <a:t>方法：</a:t>
            </a:r>
          </a:p>
          <a:p>
            <a:r>
              <a:rPr lang="en-US" altLang="zh-CN" sz="2400"/>
              <a:t>1.</a:t>
            </a:r>
            <a:r>
              <a:rPr lang="zh-CN" altLang="en-US" sz="2400"/>
              <a:t>任取一点</a:t>
            </a:r>
            <a:r>
              <a:rPr lang="en-US" altLang="zh-CN" sz="2400"/>
              <a:t>x</a:t>
            </a:r>
            <a:r>
              <a:rPr lang="en-US" altLang="zh-CN" sz="1600"/>
              <a:t>0</a:t>
            </a:r>
            <a:r>
              <a:rPr lang="zh-CN" altLang="en-US" sz="2400"/>
              <a:t>，计算在这一点的导数值</a:t>
            </a:r>
            <a:r>
              <a:rPr lang="en-US" altLang="zh-CN" sz="2400"/>
              <a:t>f(x</a:t>
            </a:r>
            <a:r>
              <a:rPr lang="en-US" altLang="zh-CN" sz="1600"/>
              <a:t>0</a:t>
            </a:r>
            <a:r>
              <a:rPr lang="en-US" altLang="zh-CN" sz="2400"/>
              <a:t>)</a:t>
            </a:r>
          </a:p>
          <a:p>
            <a:r>
              <a:rPr lang="en-US" altLang="zh-CN" sz="2400"/>
              <a:t>2.</a:t>
            </a:r>
            <a:r>
              <a:rPr lang="zh-CN" altLang="en-US" sz="2400"/>
              <a:t>根据导数的正负，决定</a:t>
            </a:r>
            <a:r>
              <a:rPr lang="en-US" altLang="zh-CN" sz="2400"/>
              <a:t>x</a:t>
            </a:r>
            <a:r>
              <a:rPr lang="en-US" altLang="zh-CN" sz="1600"/>
              <a:t>0</a:t>
            </a:r>
            <a:r>
              <a:rPr lang="zh-CN" altLang="en-US" sz="2400"/>
              <a:t>应当调大还是调小</a:t>
            </a:r>
          </a:p>
          <a:p>
            <a:r>
              <a:rPr lang="en-US" altLang="zh-CN" sz="2400"/>
              <a:t>3.</a:t>
            </a:r>
            <a:r>
              <a:rPr lang="zh-CN" altLang="en-US" sz="2400"/>
              <a:t>迭代进行</a:t>
            </a:r>
            <a:r>
              <a:rPr lang="en-US" altLang="zh-CN" sz="2400"/>
              <a:t>1,2</a:t>
            </a:r>
            <a:r>
              <a:rPr lang="zh-CN" altLang="en-US" sz="2400"/>
              <a:t>直到</a:t>
            </a:r>
            <a:r>
              <a:rPr lang="en-US" altLang="zh-CN" sz="2400"/>
              <a:t>x</a:t>
            </a:r>
            <a:r>
              <a:rPr lang="zh-CN" altLang="en-US" sz="2400"/>
              <a:t>不在变化（或变化极小）</a:t>
            </a:r>
            <a:endParaRPr lang="en-US" altLang="zh-CN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860" y="980440"/>
            <a:ext cx="10248900" cy="37490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31950" y="5156835"/>
            <a:ext cx="7760335" cy="1557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原函数为 </a:t>
            </a:r>
            <a:r>
              <a:rPr lang="en-US" altLang="zh-CN" sz="2400">
                <a:sym typeface="+mn-ea"/>
              </a:rPr>
              <a:t>y = x</a:t>
            </a:r>
            <a:r>
              <a:rPr lang="en-US" altLang="zh-CN" sz="2400" baseline="30000">
                <a:uFillTx/>
                <a:sym typeface="+mn-ea"/>
              </a:rPr>
              <a:t>2       </a:t>
            </a:r>
            <a:r>
              <a:rPr lang="zh-CN" altLang="en-US" sz="2400"/>
              <a:t> 导函数为 </a:t>
            </a:r>
            <a:r>
              <a:rPr lang="en-US" altLang="zh-CN" sz="2400"/>
              <a:t>y = 2*x</a:t>
            </a:r>
            <a:endParaRPr lang="en-US" altLang="zh-CN" sz="2800" baseline="30000">
              <a:solidFill>
                <a:schemeClr val="tx1"/>
              </a:solidFill>
              <a:uFillTx/>
            </a:endParaRPr>
          </a:p>
          <a:p>
            <a:r>
              <a:rPr lang="zh-CN" altLang="en-US" sz="2400"/>
              <a:t>在</a:t>
            </a:r>
            <a:r>
              <a:rPr lang="en-US" altLang="zh-CN" sz="2400">
                <a:solidFill>
                  <a:srgbClr val="FF0000"/>
                </a:solidFill>
              </a:rPr>
              <a:t>x = -1</a:t>
            </a:r>
            <a:r>
              <a:rPr lang="zh-CN" altLang="en-US" sz="2400"/>
              <a:t>这个点，导数值为 </a:t>
            </a:r>
            <a:r>
              <a:rPr lang="en-US" altLang="zh-CN" sz="2400">
                <a:solidFill>
                  <a:srgbClr val="FF0000"/>
                </a:solidFill>
              </a:rPr>
              <a:t>-2</a:t>
            </a:r>
          </a:p>
          <a:p>
            <a:r>
              <a:rPr lang="zh-CN" altLang="en-US" sz="2400"/>
              <a:t>该点</a:t>
            </a:r>
            <a:r>
              <a:rPr lang="zh-CN" altLang="en-US" sz="2400">
                <a:solidFill>
                  <a:srgbClr val="FF0000"/>
                </a:solidFill>
              </a:rPr>
              <a:t>导数为负数</a:t>
            </a:r>
            <a:r>
              <a:rPr lang="zh-CN" altLang="en-US" sz="2400"/>
              <a:t>，说明在这一点，如果</a:t>
            </a:r>
            <a:r>
              <a:rPr lang="en-US" altLang="zh-CN" sz="2400">
                <a:solidFill>
                  <a:srgbClr val="FF0000"/>
                </a:solidFill>
              </a:rPr>
              <a:t>x</a:t>
            </a:r>
            <a:r>
              <a:rPr lang="zh-CN" altLang="en-US" sz="2400">
                <a:solidFill>
                  <a:srgbClr val="FF0000"/>
                </a:solidFill>
              </a:rPr>
              <a:t>增大，</a:t>
            </a:r>
            <a:r>
              <a:rPr lang="en-US" altLang="zh-CN" sz="2400">
                <a:solidFill>
                  <a:srgbClr val="FF0000"/>
                </a:solidFill>
              </a:rPr>
              <a:t>y</a:t>
            </a:r>
            <a:r>
              <a:rPr lang="zh-CN" altLang="en-US" sz="2400">
                <a:solidFill>
                  <a:srgbClr val="FF0000"/>
                </a:solidFill>
              </a:rPr>
              <a:t>会减小</a:t>
            </a:r>
          </a:p>
          <a:p>
            <a:r>
              <a:rPr lang="zh-CN" altLang="en-US" sz="2400"/>
              <a:t>所以</a:t>
            </a:r>
            <a:r>
              <a:rPr lang="en-US" altLang="zh-CN" sz="2400"/>
              <a:t>f(x)</a:t>
            </a:r>
            <a:r>
              <a:rPr lang="zh-CN" altLang="en-US" sz="2400"/>
              <a:t>最小值的点应当在</a:t>
            </a:r>
            <a:r>
              <a:rPr lang="en-US" altLang="zh-CN" sz="2400"/>
              <a:t>-1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FF0000"/>
                </a:solidFill>
              </a:rPr>
              <a:t>右侧（大于</a:t>
            </a:r>
            <a:r>
              <a:rPr lang="en-US" altLang="zh-CN" sz="2400">
                <a:solidFill>
                  <a:srgbClr val="FF0000"/>
                </a:solidFill>
              </a:rPr>
              <a:t>-1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32585" y="5157470"/>
            <a:ext cx="8145145" cy="1557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原函数为 </a:t>
            </a:r>
            <a:r>
              <a:rPr lang="en-US" altLang="zh-CN" sz="2400">
                <a:sym typeface="+mn-ea"/>
              </a:rPr>
              <a:t>y = x</a:t>
            </a:r>
            <a:r>
              <a:rPr lang="en-US" altLang="zh-CN" sz="2400" baseline="30000">
                <a:uFillTx/>
                <a:sym typeface="+mn-ea"/>
              </a:rPr>
              <a:t>2       </a:t>
            </a:r>
            <a:r>
              <a:rPr lang="zh-CN" altLang="en-US" sz="2400"/>
              <a:t> 导函数为 </a:t>
            </a:r>
            <a:r>
              <a:rPr lang="en-US" altLang="zh-CN" sz="2400"/>
              <a:t>y = 2*x</a:t>
            </a:r>
            <a:endParaRPr lang="en-US" altLang="zh-CN" sz="2800" baseline="30000">
              <a:solidFill>
                <a:schemeClr val="tx1"/>
              </a:solidFill>
              <a:uFillTx/>
            </a:endParaRPr>
          </a:p>
          <a:p>
            <a:r>
              <a:rPr lang="zh-CN" altLang="en-US" sz="2400"/>
              <a:t>在</a:t>
            </a:r>
            <a:r>
              <a:rPr lang="en-US" altLang="zh-CN" sz="2400">
                <a:solidFill>
                  <a:srgbClr val="FF0000"/>
                </a:solidFill>
              </a:rPr>
              <a:t>x = 1</a:t>
            </a:r>
            <a:r>
              <a:rPr lang="zh-CN" altLang="en-US" sz="2400"/>
              <a:t>这个点，导数值为 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</a:p>
          <a:p>
            <a:r>
              <a:rPr lang="zh-CN" altLang="en-US" sz="2400"/>
              <a:t>该点</a:t>
            </a:r>
            <a:r>
              <a:rPr lang="zh-CN" altLang="en-US" sz="2400">
                <a:solidFill>
                  <a:srgbClr val="FF0000"/>
                </a:solidFill>
              </a:rPr>
              <a:t>导数为正数</a:t>
            </a:r>
            <a:r>
              <a:rPr lang="zh-CN" altLang="en-US" sz="2400"/>
              <a:t>，说明在这一点，如果</a:t>
            </a:r>
            <a:r>
              <a:rPr lang="en-US" altLang="zh-CN" sz="2400">
                <a:solidFill>
                  <a:srgbClr val="FF0000"/>
                </a:solidFill>
              </a:rPr>
              <a:t>x</a:t>
            </a:r>
            <a:r>
              <a:rPr lang="zh-CN" altLang="en-US" sz="2400">
                <a:solidFill>
                  <a:srgbClr val="FF0000"/>
                </a:solidFill>
              </a:rPr>
              <a:t>增大，</a:t>
            </a:r>
            <a:r>
              <a:rPr lang="en-US" altLang="zh-CN" sz="2400">
                <a:solidFill>
                  <a:srgbClr val="FF0000"/>
                </a:solidFill>
              </a:rPr>
              <a:t>y</a:t>
            </a:r>
            <a:r>
              <a:rPr lang="zh-CN" altLang="en-US" sz="2400">
                <a:solidFill>
                  <a:srgbClr val="FF0000"/>
                </a:solidFill>
              </a:rPr>
              <a:t>会增大</a:t>
            </a:r>
          </a:p>
          <a:p>
            <a:r>
              <a:rPr lang="zh-CN" altLang="en-US" sz="2400"/>
              <a:t>所以</a:t>
            </a:r>
            <a:r>
              <a:rPr lang="en-US" altLang="zh-CN" sz="2400"/>
              <a:t>f(x)</a:t>
            </a:r>
            <a:r>
              <a:rPr lang="zh-CN" altLang="en-US" sz="2400"/>
              <a:t>最小值的点应当在</a:t>
            </a:r>
            <a:r>
              <a:rPr lang="en-US" altLang="zh-CN" sz="2400"/>
              <a:t>1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FF0000"/>
                </a:solidFill>
              </a:rPr>
              <a:t>左侧（小于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60" y="979805"/>
            <a:ext cx="9731375" cy="37344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梯度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charset="0"/>
              <a:buChar char="•"/>
            </a:pPr>
            <a:r>
              <a:rPr lang="zh-CN" altLang="en-US"/>
              <a:t>梯度：可以理解为多元函数的导数，意义与导数基本一致</a:t>
            </a:r>
          </a:p>
          <a:p>
            <a:pPr marL="457200" indent="-457200">
              <a:buFont typeface="Arial" charset="0"/>
              <a:buChar char="•"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00150" y="2422525"/>
            <a:ext cx="3565525" cy="1557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zh-CN" altLang="en-US" sz="2400">
                <a:sym typeface="+mn-ea"/>
              </a:rPr>
              <a:t>原函数：</a:t>
            </a:r>
            <a:r>
              <a:rPr lang="en-US" altLang="zh-CN" sz="2400">
                <a:sym typeface="+mn-ea"/>
              </a:rPr>
              <a:t>y = 3x</a:t>
            </a:r>
            <a:r>
              <a:rPr lang="en-US" altLang="zh-CN" sz="2400" baseline="30000">
                <a:uFillTx/>
                <a:sym typeface="+mn-ea"/>
              </a:rPr>
              <a:t>2</a:t>
            </a:r>
            <a:r>
              <a:rPr lang="en-US" altLang="zh-CN" sz="2400">
                <a:sym typeface="+mn-ea"/>
              </a:rPr>
              <a:t>            </a:t>
            </a:r>
          </a:p>
          <a:p>
            <a:pPr marL="457200" indent="-457200">
              <a:buFont typeface="Arial" charset="0"/>
              <a:buChar char="•"/>
            </a:pPr>
            <a:r>
              <a:rPr lang="zh-CN" altLang="en-US" sz="2400">
                <a:sym typeface="+mn-ea"/>
              </a:rPr>
              <a:t>导函数</a:t>
            </a:r>
            <a:r>
              <a:rPr lang="en-US" altLang="zh-CN" sz="2400">
                <a:sym typeface="+mn-ea"/>
              </a:rPr>
              <a:t>:   y = 6x        </a:t>
            </a:r>
          </a:p>
          <a:p>
            <a:pPr marL="457200" indent="-457200">
              <a:buFont typeface="Arial" charset="0"/>
              <a:buChar char="•"/>
            </a:pPr>
            <a:r>
              <a:rPr lang="zh-CN" altLang="en-US" sz="2400">
                <a:sym typeface="+mn-ea"/>
              </a:rPr>
              <a:t>在</a:t>
            </a:r>
            <a:r>
              <a:rPr lang="en-US" altLang="zh-CN" sz="2400">
                <a:sym typeface="+mn-ea"/>
              </a:rPr>
              <a:t>x=1</a:t>
            </a:r>
            <a:r>
              <a:rPr lang="zh-CN" altLang="en-US" sz="2400">
                <a:sym typeface="+mn-ea"/>
              </a:rPr>
              <a:t>处的导数值：</a:t>
            </a:r>
            <a:r>
              <a:rPr lang="en-US" altLang="zh-CN" sz="2400">
                <a:sym typeface="+mn-ea"/>
              </a:rPr>
              <a:t>6</a:t>
            </a:r>
          </a:p>
          <a:p>
            <a:endParaRPr lang="en-US" altLang="zh-CN" sz="24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80735" y="2350135"/>
            <a:ext cx="6345555" cy="222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zh-CN" altLang="en-US" sz="2400">
                <a:sym typeface="+mn-ea"/>
              </a:rPr>
              <a:t>原函数：</a:t>
            </a:r>
            <a:r>
              <a:rPr lang="en-US" altLang="zh-CN" sz="2400">
                <a:sym typeface="+mn-ea"/>
              </a:rPr>
              <a:t>y = 3x</a:t>
            </a:r>
            <a:r>
              <a:rPr lang="en-US" altLang="zh-CN" sz="1400">
                <a:sym typeface="+mn-ea"/>
              </a:rPr>
              <a:t>1</a:t>
            </a:r>
            <a:r>
              <a:rPr lang="en-US" altLang="zh-CN" sz="2400" baseline="30000">
                <a:uFillTx/>
                <a:sym typeface="+mn-ea"/>
              </a:rPr>
              <a:t>2 </a:t>
            </a:r>
            <a:r>
              <a:rPr lang="en-US" altLang="zh-CN" sz="2400">
                <a:sym typeface="+mn-ea"/>
              </a:rPr>
              <a:t>+ 4x</a:t>
            </a:r>
            <a:r>
              <a:rPr lang="en-US" altLang="zh-CN" sz="1400">
                <a:sym typeface="+mn-ea"/>
              </a:rPr>
              <a:t>2</a:t>
            </a:r>
            <a:r>
              <a:rPr lang="en-US" altLang="zh-CN" sz="2400" baseline="30000">
                <a:uFillTx/>
                <a:sym typeface="+mn-ea"/>
              </a:rPr>
              <a:t>2</a:t>
            </a:r>
            <a:r>
              <a:rPr lang="en-US" altLang="zh-CN" sz="2400">
                <a:sym typeface="+mn-ea"/>
              </a:rPr>
              <a:t> + 5x</a:t>
            </a:r>
            <a:r>
              <a:rPr lang="en-US" altLang="zh-CN" sz="1400">
                <a:sym typeface="+mn-ea"/>
              </a:rPr>
              <a:t>3</a:t>
            </a:r>
            <a:r>
              <a:rPr lang="en-US" altLang="zh-CN" sz="2400" baseline="30000">
                <a:uFillTx/>
                <a:sym typeface="+mn-ea"/>
              </a:rPr>
              <a:t>2</a:t>
            </a:r>
            <a:r>
              <a:rPr lang="en-US" altLang="zh-CN" sz="2400">
                <a:sym typeface="+mn-ea"/>
              </a:rPr>
              <a:t>       </a:t>
            </a:r>
          </a:p>
          <a:p>
            <a:pPr marL="457200" indent="-457200">
              <a:buFont typeface="Arial" charset="0"/>
              <a:buChar char="•"/>
            </a:pPr>
            <a:r>
              <a:rPr lang="zh-CN" altLang="en-US" sz="2400">
                <a:sym typeface="+mn-ea"/>
              </a:rPr>
              <a:t>导函数：</a:t>
            </a:r>
            <a:r>
              <a:rPr lang="en-US" altLang="zh-CN" sz="2400">
                <a:sym typeface="+mn-ea"/>
              </a:rPr>
              <a:t>y = {6x</a:t>
            </a:r>
            <a:r>
              <a:rPr lang="en-US" altLang="zh-CN" sz="1400">
                <a:sym typeface="+mn-ea"/>
              </a:rPr>
              <a:t>1</a:t>
            </a:r>
            <a:r>
              <a:rPr lang="en-US" altLang="zh-CN" sz="2400">
                <a:sym typeface="+mn-ea"/>
              </a:rPr>
              <a:t> , 8x</a:t>
            </a:r>
            <a:r>
              <a:rPr lang="en-US" altLang="zh-CN" sz="1400">
                <a:sym typeface="+mn-ea"/>
              </a:rPr>
              <a:t>2</a:t>
            </a:r>
            <a:r>
              <a:rPr lang="en-US" altLang="zh-CN" sz="2400">
                <a:sym typeface="+mn-ea"/>
              </a:rPr>
              <a:t> , 10x</a:t>
            </a:r>
            <a:r>
              <a:rPr lang="en-US" altLang="zh-CN" sz="1400">
                <a:sym typeface="+mn-ea"/>
              </a:rPr>
              <a:t>3</a:t>
            </a:r>
            <a:r>
              <a:rPr lang="en-US" altLang="zh-CN" sz="2400">
                <a:sym typeface="+mn-ea"/>
              </a:rPr>
              <a:t>}</a:t>
            </a:r>
          </a:p>
          <a:p>
            <a:pPr marL="457200" indent="-457200">
              <a:buFont typeface="Arial" charset="0"/>
              <a:buChar char="•"/>
            </a:pPr>
            <a:r>
              <a:rPr lang="zh-CN" altLang="en-US" sz="2400">
                <a:sym typeface="+mn-ea"/>
              </a:rPr>
              <a:t>在</a:t>
            </a:r>
            <a:r>
              <a:rPr lang="en-US" altLang="zh-CN" sz="2400">
                <a:sym typeface="+mn-ea"/>
              </a:rPr>
              <a:t>[1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1]</a:t>
            </a:r>
            <a:r>
              <a:rPr lang="zh-CN" altLang="en-US" sz="2400">
                <a:sym typeface="+mn-ea"/>
              </a:rPr>
              <a:t>处的梯度是</a:t>
            </a:r>
            <a:r>
              <a:rPr lang="en-US" altLang="zh-CN" sz="2400">
                <a:sym typeface="+mn-ea"/>
              </a:rPr>
              <a:t>[6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8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10]</a:t>
            </a:r>
            <a:endParaRPr lang="zh-CN" altLang="en-US" sz="2400">
              <a:sym typeface="+mn-ea"/>
            </a:endParaRPr>
          </a:p>
          <a:p>
            <a:pPr marL="457200" indent="-457200">
              <a:buFont typeface="Arial" charset="0"/>
              <a:buChar char="•"/>
            </a:pPr>
            <a:r>
              <a:rPr lang="zh-CN" altLang="en-US" sz="2400">
                <a:sym typeface="+mn-ea"/>
              </a:rPr>
              <a:t>梯度是个向量</a:t>
            </a:r>
          </a:p>
          <a:p>
            <a:pPr marL="457200" indent="-457200">
              <a:buFont typeface="Arial" charset="0"/>
              <a:buChar char="•"/>
            </a:pPr>
            <a:endParaRPr lang="zh-CN" altLang="en-US" sz="2400">
              <a:sym typeface="+mn-ea"/>
            </a:endParaRPr>
          </a:p>
          <a:p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660" y="4149090"/>
            <a:ext cx="893127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梯度下降法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1995" y="1844675"/>
            <a:ext cx="8229600" cy="438912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endParaRPr lang="zh-CN" altLang="en-US"/>
          </a:p>
          <a:p>
            <a:pPr marL="457200" indent="-457200">
              <a:buFont typeface="Arial" charset="0"/>
              <a:buChar char="•"/>
            </a:pPr>
            <a:r>
              <a:rPr lang="zh-CN" altLang="en-US"/>
              <a:t>根据梯度，更新权重</a:t>
            </a:r>
          </a:p>
          <a:p>
            <a:pPr marL="457200" indent="-457200">
              <a:buFont typeface="Arial" charset="0"/>
              <a:buChar char="•"/>
            </a:pPr>
            <a:r>
              <a:rPr lang="zh-CN" altLang="en-US"/>
              <a:t>学习率控制权重更新的</a:t>
            </a:r>
            <a:r>
              <a:rPr lang="zh-CN" altLang="en-US" b="1"/>
              <a:t>幅度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zh-CN"/>
              <a:t>SGD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zh-CN"/>
              <a:t>Stochastic gradient descent</a:t>
            </a: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6" y="4740911"/>
            <a:ext cx="4391025" cy="7905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60775" y="5643880"/>
            <a:ext cx="784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权重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24171" y="5643880"/>
            <a:ext cx="89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学习率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468746" y="5643880"/>
            <a:ext cx="89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梯度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39310" y="5643880"/>
            <a:ext cx="784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权重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深度学习</a:t>
            </a:r>
          </a:p>
        </p:txBody>
      </p:sp>
      <p:pic>
        <p:nvPicPr>
          <p:cNvPr id="7172" name="Picture 4" descr="D:\Download\未命名文件 (2)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1384935"/>
            <a:ext cx="5894705" cy="530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507760" y="62925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求解目标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1815" y="1556385"/>
            <a:ext cx="183134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损失函数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04155" y="6309360"/>
            <a:ext cx="183134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模型权重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320280" y="2420620"/>
            <a:ext cx="4936490" cy="350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损失函数越小，模型越好</a:t>
            </a:r>
          </a:p>
          <a:p>
            <a:endParaRPr lang="zh-CN" altLang="en-US" sz="2400"/>
          </a:p>
          <a:p>
            <a:r>
              <a:rPr lang="zh-CN" altLang="en-US" sz="2400"/>
              <a:t>学习的目标是损失函数最小化</a:t>
            </a:r>
          </a:p>
          <a:p>
            <a:endParaRPr lang="zh-CN" altLang="en-US" sz="2400"/>
          </a:p>
          <a:p>
            <a:r>
              <a:rPr lang="zh-CN" altLang="en-US" sz="2400"/>
              <a:t>模型权重影响损失函数值</a:t>
            </a:r>
          </a:p>
          <a:p>
            <a:endParaRPr lang="zh-CN" altLang="en-US" sz="2400"/>
          </a:p>
          <a:p>
            <a:r>
              <a:rPr lang="zh-CN" altLang="en-US" sz="2400"/>
              <a:t>通过梯度下降来找到最优权重</a:t>
            </a:r>
          </a:p>
          <a:p>
            <a:endParaRPr lang="zh-CN" altLang="en-US" sz="2800"/>
          </a:p>
          <a:p>
            <a:endParaRPr lang="zh-CN" altLang="en-US" sz="2800"/>
          </a:p>
        </p:txBody>
      </p:sp>
      <p:sp>
        <p:nvSpPr>
          <p:cNvPr id="8" name="下箭头 7"/>
          <p:cNvSpPr/>
          <p:nvPr/>
        </p:nvSpPr>
        <p:spPr>
          <a:xfrm>
            <a:off x="8976360" y="2924810"/>
            <a:ext cx="215900" cy="250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8976360" y="3644900"/>
            <a:ext cx="215900" cy="250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9015095" y="4326890"/>
            <a:ext cx="215900" cy="250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5" y="1916430"/>
            <a:ext cx="5962650" cy="44526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384870-44F3-1E36-67F9-BEAEDFB4A4C5}"/>
              </a:ext>
            </a:extLst>
          </p:cNvPr>
          <p:cNvSpPr txBox="1"/>
          <p:nvPr/>
        </p:nvSpPr>
        <p:spPr>
          <a:xfrm>
            <a:off x="5663952" y="5994684"/>
            <a:ext cx="183134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W, b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E85D45-9C4F-E34F-BBE2-058A8A9548E3}"/>
              </a:ext>
            </a:extLst>
          </p:cNvPr>
          <p:cNvSpPr txBox="1"/>
          <p:nvPr/>
        </p:nvSpPr>
        <p:spPr>
          <a:xfrm>
            <a:off x="623392" y="1859121"/>
            <a:ext cx="183134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loss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完整的反向传播过程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根据输入</a:t>
            </a:r>
            <a:r>
              <a:rPr lang="en-US" altLang="zh-CN" dirty="0"/>
              <a:t>x</a:t>
            </a:r>
            <a:r>
              <a:rPr lang="zh-CN" altLang="en-US" dirty="0"/>
              <a:t>和模型当前权重，计算预测值</a:t>
            </a:r>
            <a:r>
              <a:rPr lang="en-US" altLang="zh-CN" dirty="0"/>
              <a:t>y'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根据</a:t>
            </a:r>
            <a:r>
              <a:rPr lang="en-US" altLang="zh-CN" dirty="0"/>
              <a:t>y'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使用</a:t>
            </a:r>
            <a:r>
              <a:rPr lang="en-US" altLang="zh-CN" dirty="0"/>
              <a:t>loss</a:t>
            </a:r>
            <a:r>
              <a:rPr lang="zh-CN" altLang="en-US" dirty="0"/>
              <a:t>函数计算</a:t>
            </a:r>
            <a:r>
              <a:rPr lang="en-US" altLang="zh-CN" dirty="0"/>
              <a:t>loss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根据</a:t>
            </a:r>
            <a:r>
              <a:rPr lang="en-US" altLang="zh-CN" dirty="0"/>
              <a:t>loss</a:t>
            </a:r>
            <a:r>
              <a:rPr lang="zh-CN" altLang="en-US" dirty="0"/>
              <a:t>计算模型权重的梯度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使用梯度和学习率，根据优化器调整模型权重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代码演示</a:t>
            </a:r>
            <a:r>
              <a:rPr lang="en-US" altLang="zh-CN" dirty="0"/>
              <a:t>*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权重更新方式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G</a:t>
            </a:r>
            <a:r>
              <a:rPr lang="zh-CN" altLang="en-US" dirty="0"/>
              <a:t>radient descent</a:t>
            </a:r>
          </a:p>
          <a:p>
            <a:pPr marL="0" indent="0">
              <a:buNone/>
            </a:pPr>
            <a:r>
              <a:rPr lang="zh-CN" altLang="en-US" dirty="0"/>
              <a:t>所有样本一起计算梯度（累加）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Stochastic gradient descent</a:t>
            </a:r>
          </a:p>
          <a:p>
            <a:pPr marL="0" indent="0">
              <a:buNone/>
            </a:pPr>
            <a:r>
              <a:rPr lang="zh-CN" altLang="en-US" dirty="0"/>
              <a:t>每次使用一个样本计算梯度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Mini-batch gradient descent</a:t>
            </a:r>
          </a:p>
          <a:p>
            <a:pPr marL="0" indent="0">
              <a:buNone/>
            </a:pPr>
            <a:r>
              <a:rPr lang="zh-CN" altLang="en-US" dirty="0"/>
              <a:t>每次使用</a:t>
            </a:r>
            <a:r>
              <a:rPr lang="en-US" altLang="zh-CN" dirty="0"/>
              <a:t>n</a:t>
            </a:r>
            <a:r>
              <a:rPr lang="zh-CN" altLang="en-US" dirty="0"/>
              <a:t>个样本计算梯度（累加）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416" y="364473"/>
            <a:ext cx="10515600" cy="1325562"/>
          </a:xfrm>
        </p:spPr>
        <p:txBody>
          <a:bodyPr/>
          <a:lstStyle/>
          <a:p>
            <a:r>
              <a:rPr lang="en-US" altLang="zh-CN"/>
              <a:t>pytorch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pytorch</a:t>
            </a:r>
            <a:r>
              <a:rPr lang="zh-CN" altLang="en-US" dirty="0"/>
              <a:t>主页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https://pytorch.org/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pytorch</a:t>
            </a:r>
            <a:r>
              <a:rPr lang="zh-CN" altLang="en-US" dirty="0"/>
              <a:t>官方文档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https://pytorch.org/docs/stable/index.html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网络结构</a:t>
            </a:r>
            <a:r>
              <a:rPr lang="en-US" altLang="zh-CN" dirty="0"/>
              <a:t>-</a:t>
            </a:r>
            <a:r>
              <a:rPr lang="zh-CN" altLang="en-US" dirty="0"/>
              <a:t>全连接层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Arial" charset="0"/>
              <a:buChar char="•"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又称</a:t>
            </a:r>
            <a:r>
              <a:rPr lang="zh-CN" altLang="en-US" u="sng" dirty="0">
                <a:latin typeface="宋体" pitchFamily="2" charset="-122"/>
                <a:ea typeface="宋体" pitchFamily="2" charset="-122"/>
              </a:rPr>
              <a:t>线性层</a:t>
            </a:r>
            <a:endParaRPr lang="en-US" altLang="zh-CN" u="sng" dirty="0">
              <a:latin typeface="宋体" pitchFamily="2" charset="-122"/>
              <a:ea typeface="宋体" pitchFamily="2" charset="-122"/>
            </a:endParaRPr>
          </a:p>
          <a:p>
            <a:pPr marL="457200" indent="-457200">
              <a:buFont typeface="Arial" charset="0"/>
              <a:buChar char="•"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计算公式：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altLang="zh-CN" dirty="0">
                <a:latin typeface="宋体" pitchFamily="2" charset="-122"/>
                <a:ea typeface="宋体" pitchFamily="2" charset="-122"/>
              </a:rPr>
              <a:t>A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和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b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是参与训练的参数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(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在很多时候也称为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w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和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b)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zh-CN" dirty="0">
                <a:latin typeface="宋体" pitchFamily="2" charset="-122"/>
                <a:ea typeface="宋体" pitchFamily="2" charset="-122"/>
              </a:rPr>
              <a:t>A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的维度决定了输出的维度（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hidden size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457200" indent="-457200">
              <a:buFont typeface="Arial" charset="0"/>
              <a:buChar char="•"/>
            </a:pP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457200" indent="-457200">
              <a:buFont typeface="Arial" charset="0"/>
              <a:buChar char="•"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举例：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457200" indent="-457200">
              <a:buFont typeface="Arial" charset="0"/>
              <a:buChar char="•"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输入：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x 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（维度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1 x 3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A.shape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 = 5 x 3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b.shape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 = 1 x 5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zh-CN" dirty="0">
                <a:latin typeface="宋体" pitchFamily="2" charset="-122"/>
                <a:ea typeface="宋体" pitchFamily="2" charset="-122"/>
              </a:rPr>
              <a:t>X*A</a:t>
            </a:r>
            <a:r>
              <a:rPr lang="en-US" altLang="zh-CN" baseline="30000" dirty="0">
                <a:latin typeface="宋体" pitchFamily="2" charset="-122"/>
                <a:ea typeface="宋体" pitchFamily="2" charset="-122"/>
              </a:rPr>
              <a:t>T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      shape = 1 x 5</a:t>
            </a:r>
          </a:p>
          <a:p>
            <a:pPr marL="457200" indent="-457200">
              <a:buFont typeface="Arial" charset="0"/>
              <a:buChar char="•"/>
            </a:pPr>
            <a:r>
              <a:rPr lang="en-US" altLang="zh-CN" dirty="0">
                <a:latin typeface="宋体" pitchFamily="2" charset="-122"/>
                <a:ea typeface="宋体" pitchFamily="2" charset="-122"/>
              </a:rPr>
              <a:t>X*A</a:t>
            </a:r>
            <a:r>
              <a:rPr lang="en-US" altLang="zh-CN" baseline="30000" dirty="0">
                <a:latin typeface="宋体" pitchFamily="2" charset="-122"/>
                <a:ea typeface="宋体" pitchFamily="2" charset="-122"/>
              </a:rPr>
              <a:t>T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 + b  shape = 1 x 5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4005064"/>
            <a:ext cx="3888432" cy="2785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5237958-4B0E-844F-EFCF-42D3DD53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672" y="1988840"/>
            <a:ext cx="1904506" cy="53149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激活函数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为模型添加非线性因素，使模型具有拟合非线性函数的能力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无激活函数时 </a:t>
            </a:r>
            <a:r>
              <a:rPr lang="en-US" altLang="zh-CN" dirty="0"/>
              <a:t>y = w1(w2(w3 * x + b3) +b2) + b1 </a:t>
            </a:r>
            <a:r>
              <a:rPr lang="zh-CN" altLang="en-US" dirty="0"/>
              <a:t>仍然是线性函数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784" y="3674329"/>
            <a:ext cx="4024456" cy="2992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激活函数</a:t>
            </a:r>
            <a:r>
              <a:rPr lang="en-US" altLang="zh-CN" dirty="0"/>
              <a:t>-Sigmoid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270" y="1916430"/>
            <a:ext cx="4507865" cy="3326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90" y="2780665"/>
            <a:ext cx="4373880" cy="2175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260" y="5516880"/>
            <a:ext cx="2482215" cy="85026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激活函数</a:t>
            </a:r>
            <a:r>
              <a:rPr lang="en-US" altLang="zh-CN" dirty="0"/>
              <a:t>-</a:t>
            </a:r>
            <a:r>
              <a:rPr lang="en-US" altLang="zh-CN" dirty="0" err="1"/>
              <a:t>tanh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66" y="3716505"/>
            <a:ext cx="4480866" cy="1141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907" y="2708905"/>
            <a:ext cx="3260089" cy="2353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25" y="2420620"/>
            <a:ext cx="6961505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激活函数</a:t>
            </a:r>
            <a:r>
              <a:rPr lang="en-US" altLang="zh-CN" dirty="0"/>
              <a:t>-</a:t>
            </a:r>
            <a:r>
              <a:rPr lang="en-US" altLang="zh-CN" dirty="0" err="1"/>
              <a:t>Relu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530" y="5661025"/>
            <a:ext cx="2923540" cy="612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395" y="1772285"/>
            <a:ext cx="4952365" cy="3680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激活函数</a:t>
            </a:r>
            <a:r>
              <a:rPr lang="en-US" altLang="zh-CN" dirty="0"/>
              <a:t>-</a:t>
            </a:r>
            <a:r>
              <a:rPr lang="en-US" altLang="zh-CN" dirty="0" err="1"/>
              <a:t>Gelu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5732780"/>
            <a:ext cx="6577330" cy="589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350" y="1556385"/>
            <a:ext cx="5465445" cy="40747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err="1"/>
              <a:t>激活函数</a:t>
            </a:r>
            <a:r>
              <a:rPr lang="en-US" altLang="zh-CN" dirty="0" err="1"/>
              <a:t>-Softmax</a:t>
            </a:r>
            <a:endParaRPr lang="zh-CN" altLang="en-US" dirty="0"/>
          </a:p>
        </p:txBody>
      </p:sp>
      <p:pic>
        <p:nvPicPr>
          <p:cNvPr id="1028" name="Picture 4" descr="https://gimg2.baidu.com/image_search/src=http%3A%2F%2Fimg-blog.csdnimg.cn%2F2020112819532965.png&amp;refer=http%3A%2F%2Fimg-blog.csdnimg.cn&amp;app=2002&amp;size=f9999,10000&amp;q=a80&amp;n=0&amp;g=0n&amp;fmt=auto?sec=1662278599&amp;t=acb71deb54b8d9ca86c02d84cabfd69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337" y="1556792"/>
            <a:ext cx="314325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gimg2.baidu.com/image_search/src=http%3A%2F%2Fwww.pianshen.com%2Fimages%2F388%2Fefecd2e631eb68f918dc5f14f6bbbe7c.png&amp;refer=http%3A%2F%2Fwww.pianshen.com&amp;app=2002&amp;size=f9999,10000&amp;q=a80&amp;n=0&amp;g=0n&amp;fmt=auto?sec=1662278606&amp;t=ab56541411babec5bdd8a4f2ee96565b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1916832"/>
            <a:ext cx="621619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29941" y="3356992"/>
            <a:ext cx="497071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              1       ,               2               ,                   3       ]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en-US" altLang="zh-CN" sz="2800" dirty="0"/>
              <a:t>    </a:t>
            </a:r>
            <a:r>
              <a:rPr lang="en-US" altLang="zh-CN" sz="2800" dirty="0" err="1"/>
              <a:t>softmax</a:t>
            </a:r>
            <a:endParaRPr lang="en-US" altLang="zh-CN" sz="2800" dirty="0"/>
          </a:p>
          <a:p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[ e</a:t>
            </a:r>
            <a:r>
              <a:rPr lang="en-US" altLang="zh-CN" baseline="30000" dirty="0"/>
              <a:t>1</a:t>
            </a:r>
            <a:r>
              <a:rPr lang="en-US" altLang="zh-CN" dirty="0"/>
              <a:t>/(e</a:t>
            </a:r>
            <a:r>
              <a:rPr lang="en-US" altLang="zh-CN" baseline="30000" dirty="0"/>
              <a:t>1</a:t>
            </a:r>
            <a:r>
              <a:rPr lang="en-US" altLang="zh-CN" dirty="0"/>
              <a:t>+e</a:t>
            </a:r>
            <a:r>
              <a:rPr lang="en-US" altLang="zh-CN" baseline="30000" dirty="0"/>
              <a:t>2</a:t>
            </a:r>
            <a:r>
              <a:rPr lang="en-US" altLang="zh-CN" dirty="0"/>
              <a:t>+e</a:t>
            </a:r>
            <a:r>
              <a:rPr lang="en-US" altLang="zh-CN" baseline="30000" dirty="0"/>
              <a:t>3</a:t>
            </a:r>
            <a:r>
              <a:rPr lang="en-US" altLang="zh-CN" dirty="0"/>
              <a:t>),     e</a:t>
            </a:r>
            <a:r>
              <a:rPr lang="en-US" altLang="zh-CN" baseline="30000" dirty="0"/>
              <a:t>2</a:t>
            </a:r>
            <a:r>
              <a:rPr lang="en-US" altLang="zh-CN" dirty="0"/>
              <a:t>/(e</a:t>
            </a:r>
            <a:r>
              <a:rPr lang="en-US" altLang="zh-CN" baseline="30000" dirty="0"/>
              <a:t>1</a:t>
            </a:r>
            <a:r>
              <a:rPr lang="en-US" altLang="zh-CN" dirty="0"/>
              <a:t>+e</a:t>
            </a:r>
            <a:r>
              <a:rPr lang="en-US" altLang="zh-CN" baseline="30000" dirty="0"/>
              <a:t>2</a:t>
            </a:r>
            <a:r>
              <a:rPr lang="en-US" altLang="zh-CN" dirty="0"/>
              <a:t>+e</a:t>
            </a:r>
            <a:r>
              <a:rPr lang="en-US" altLang="zh-CN" baseline="30000" dirty="0"/>
              <a:t>3</a:t>
            </a:r>
            <a:r>
              <a:rPr lang="en-US" altLang="zh-CN" dirty="0"/>
              <a:t>),        e</a:t>
            </a:r>
            <a:r>
              <a:rPr lang="en-US" altLang="zh-CN" baseline="30000" dirty="0"/>
              <a:t>3</a:t>
            </a:r>
            <a:r>
              <a:rPr lang="en-US" altLang="zh-CN" dirty="0"/>
              <a:t>/(e</a:t>
            </a:r>
            <a:r>
              <a:rPr lang="en-US" altLang="zh-CN" baseline="30000" dirty="0"/>
              <a:t>1</a:t>
            </a:r>
            <a:r>
              <a:rPr lang="en-US" altLang="zh-CN" dirty="0"/>
              <a:t>+e</a:t>
            </a:r>
            <a:r>
              <a:rPr lang="en-US" altLang="zh-CN" baseline="30000" dirty="0"/>
              <a:t>2</a:t>
            </a:r>
            <a:r>
              <a:rPr lang="en-US" altLang="zh-CN" dirty="0"/>
              <a:t>+e</a:t>
            </a:r>
            <a:r>
              <a:rPr lang="en-US" altLang="zh-CN" baseline="30000" dirty="0"/>
              <a:t>3</a:t>
            </a:r>
            <a:r>
              <a:rPr lang="en-US" altLang="zh-CN" dirty="0"/>
              <a:t>)]</a:t>
            </a:r>
            <a:endParaRPr lang="zh-CN" altLang="en-US" dirty="0"/>
          </a:p>
        </p:txBody>
      </p:sp>
      <p:sp>
        <p:nvSpPr>
          <p:cNvPr id="5" name="下箭头 4"/>
          <p:cNvSpPr/>
          <p:nvPr/>
        </p:nvSpPr>
        <p:spPr>
          <a:xfrm>
            <a:off x="9237237" y="3889953"/>
            <a:ext cx="181101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9237237" y="4725144"/>
            <a:ext cx="181101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29941" y="3140968"/>
            <a:ext cx="4752528" cy="244827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</a:t>
            </a:r>
            <a:r>
              <a:rPr lang="en-US" altLang="zh-CN" dirty="0"/>
              <a:t>-</a:t>
            </a:r>
            <a:r>
              <a:rPr lang="zh-CN" altLang="en-US" dirty="0"/>
              <a:t>均方差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MSE</a:t>
            </a:r>
            <a:r>
              <a:rPr lang="zh-CN" altLang="en-US" dirty="0"/>
              <a:t>  </a:t>
            </a:r>
            <a:r>
              <a:rPr lang="en-US" altLang="zh-CN" dirty="0"/>
              <a:t>mean  square  error  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对均方差在做开根号，可以得到根方差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适用于回归任务（预测结果是个概率值）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497" y="3584547"/>
            <a:ext cx="6120681" cy="75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077" y="4505697"/>
            <a:ext cx="6491705" cy="141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</a:t>
            </a:r>
            <a:r>
              <a:rPr lang="en-US" altLang="zh-CN" dirty="0"/>
              <a:t>-</a:t>
            </a:r>
            <a:r>
              <a:rPr lang="zh-CN" altLang="en-US" dirty="0"/>
              <a:t>交叉熵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Cross Entropy</a:t>
            </a:r>
          </a:p>
          <a:p>
            <a:pPr marL="0" indent="0">
              <a:buNone/>
            </a:pPr>
            <a:r>
              <a:rPr lang="zh-CN" altLang="en-US" dirty="0"/>
              <a:t>适用于分类任务</a:t>
            </a:r>
          </a:p>
          <a:p>
            <a:pPr marL="0" indent="0">
              <a:buNone/>
            </a:pPr>
            <a:r>
              <a:rPr lang="zh-CN" altLang="en-US" dirty="0"/>
              <a:t>分类任务中，模型输出经常是在所有类别上的概率分布</a:t>
            </a:r>
          </a:p>
          <a:p>
            <a:pPr marL="0" indent="0">
              <a:buNone/>
            </a:pPr>
            <a:r>
              <a:rPr lang="zh-CN" altLang="en-US" dirty="0"/>
              <a:t>公式：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假设一个三分类任务，某样本的正确标签是第一类，则</a:t>
            </a:r>
            <a:r>
              <a:rPr lang="en-US" altLang="zh-CN" dirty="0"/>
              <a:t>p = [1, 0, 0], </a:t>
            </a:r>
            <a:r>
              <a:rPr lang="zh-CN" altLang="en-US" dirty="0"/>
              <a:t>模型预测值假设为</a:t>
            </a:r>
            <a:r>
              <a:rPr lang="en-US" altLang="zh-CN" dirty="0"/>
              <a:t>[0.5, 0.4, 0.1], </a:t>
            </a:r>
            <a:r>
              <a:rPr lang="zh-CN" altLang="en-US" dirty="0"/>
              <a:t>则交叉熵计算如下：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926" y="3549016"/>
            <a:ext cx="4248785" cy="6711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346" y="5725160"/>
            <a:ext cx="8415655" cy="5994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7292BB-6289-0987-CB29-1F2442911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0"/>
            <a:ext cx="6774772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F183D2-1DA3-29B2-7A81-9B30219AACCB}"/>
              </a:ext>
            </a:extLst>
          </p:cNvPr>
          <p:cNvSpPr txBox="1"/>
          <p:nvPr/>
        </p:nvSpPr>
        <p:spPr>
          <a:xfrm>
            <a:off x="8328248" y="2564904"/>
            <a:ext cx="374653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log(x)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chemeClr val="accent5"/>
                </a:solidFill>
              </a:rPr>
              <a:t>-log(x)</a:t>
            </a:r>
            <a:r>
              <a:rPr lang="zh-CN" altLang="en-US" dirty="0"/>
              <a:t>的函数图像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交叉熵本质上 </a:t>
            </a:r>
            <a:r>
              <a:rPr lang="en-US" altLang="zh-CN" dirty="0"/>
              <a:t>= -log(x)</a:t>
            </a:r>
          </a:p>
          <a:p>
            <a:endParaRPr lang="en-US" altLang="zh-CN" dirty="0"/>
          </a:p>
          <a:p>
            <a:r>
              <a:rPr lang="en-US" altLang="zh-CN" dirty="0"/>
              <a:t>x</a:t>
            </a:r>
            <a:r>
              <a:rPr lang="zh-CN" altLang="en-US" dirty="0"/>
              <a:t>为模型预测的正确类别对应概率值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</a:t>
            </a:r>
            <a:r>
              <a:rPr lang="en-US" altLang="zh-CN" dirty="0" err="1"/>
              <a:t>softmax</a:t>
            </a:r>
            <a:r>
              <a:rPr lang="zh-CN" altLang="en-US" dirty="0"/>
              <a:t>保证，这个值在</a:t>
            </a:r>
            <a:r>
              <a:rPr lang="en-US" altLang="zh-CN" dirty="0"/>
              <a:t>0-1</a:t>
            </a:r>
            <a:r>
              <a:rPr lang="zh-CN" altLang="en-US" dirty="0"/>
              <a:t>之间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-log(x)</a:t>
            </a:r>
            <a:r>
              <a:rPr lang="zh-CN" altLang="en-US" dirty="0"/>
              <a:t>中</a:t>
            </a:r>
            <a:r>
              <a:rPr lang="en-US" altLang="zh-CN" dirty="0"/>
              <a:t>x</a:t>
            </a:r>
            <a:r>
              <a:rPr lang="zh-CN" altLang="en-US" dirty="0"/>
              <a:t>越接近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loss</a:t>
            </a:r>
            <a:r>
              <a:rPr lang="zh-CN" altLang="en-US" dirty="0"/>
              <a:t>值越大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x</a:t>
            </a:r>
            <a:r>
              <a:rPr lang="zh-CN" altLang="en-US" dirty="0"/>
              <a:t>越接近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loss</a:t>
            </a:r>
            <a:r>
              <a:rPr lang="zh-CN" altLang="en-US" dirty="0"/>
              <a:t>值越小</a:t>
            </a:r>
          </a:p>
        </p:txBody>
      </p:sp>
    </p:spTree>
    <p:extLst>
      <p:ext uri="{BB962C8B-B14F-4D97-AF65-F5344CB8AC3E}">
        <p14:creationId xmlns:p14="http://schemas.microsoft.com/office/powerpoint/2010/main" val="337430821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1789</Words>
  <Application>Microsoft Office PowerPoint</Application>
  <PresentationFormat>宽屏</PresentationFormat>
  <Paragraphs>278</Paragraphs>
  <Slides>39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宋体</vt:lpstr>
      <vt:lpstr>Arial</vt:lpstr>
      <vt:lpstr>Calibri</vt:lpstr>
      <vt:lpstr>Calibri Light</vt:lpstr>
      <vt:lpstr>Cambria Math</vt:lpstr>
      <vt:lpstr>Wingdings 2</vt:lpstr>
      <vt:lpstr>HDOfficeLightV0</vt:lpstr>
      <vt:lpstr>深度学习的基本原理</vt:lpstr>
      <vt:lpstr>PowerPoint 演示文稿</vt:lpstr>
      <vt:lpstr>线性代数-标量和向量</vt:lpstr>
      <vt:lpstr>线性代数-向量运算</vt:lpstr>
      <vt:lpstr>线性代数-矩阵</vt:lpstr>
      <vt:lpstr>线性代数-矩阵</vt:lpstr>
      <vt:lpstr>线性代数-矩阵</vt:lpstr>
      <vt:lpstr>常见矩阵操作</vt:lpstr>
      <vt:lpstr>线性代数-张量</vt:lpstr>
      <vt:lpstr>常见张量操作</vt:lpstr>
      <vt:lpstr>numpy常用操作</vt:lpstr>
      <vt:lpstr>numpy常用操作</vt:lpstr>
      <vt:lpstr>numpy常用操作</vt:lpstr>
      <vt:lpstr>numpy常用操作</vt:lpstr>
      <vt:lpstr>导数</vt:lpstr>
      <vt:lpstr>常见导数</vt:lpstr>
      <vt:lpstr>求导法则</vt:lpstr>
      <vt:lpstr>链式求导示例</vt:lpstr>
      <vt:lpstr>PowerPoint 演示文稿</vt:lpstr>
      <vt:lpstr>找极小值问题</vt:lpstr>
      <vt:lpstr>PowerPoint 演示文稿</vt:lpstr>
      <vt:lpstr>PowerPoint 演示文稿</vt:lpstr>
      <vt:lpstr>梯度</vt:lpstr>
      <vt:lpstr>梯度下降法</vt:lpstr>
      <vt:lpstr>深度学习</vt:lpstr>
      <vt:lpstr>求解目标</vt:lpstr>
      <vt:lpstr>完整的反向传播过程</vt:lpstr>
      <vt:lpstr>权重更新方式</vt:lpstr>
      <vt:lpstr>pytorch</vt:lpstr>
      <vt:lpstr>网络结构-全连接层</vt:lpstr>
      <vt:lpstr>激活函数</vt:lpstr>
      <vt:lpstr>激活函数-Sigmoid</vt:lpstr>
      <vt:lpstr>激活函数-tanh</vt:lpstr>
      <vt:lpstr>激活函数-Relu</vt:lpstr>
      <vt:lpstr>激活函数-Gelu</vt:lpstr>
      <vt:lpstr>激活函数-Softmax</vt:lpstr>
      <vt:lpstr>损失函数-均方差</vt:lpstr>
      <vt:lpstr>损失函数-交叉熵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自然语言处理的发展与挑战</dc:title>
  <dc:creator>Zimo Yin</dc:creator>
  <cp:lastModifiedBy>zimo Yin</cp:lastModifiedBy>
  <cp:revision>355</cp:revision>
  <dcterms:created xsi:type="dcterms:W3CDTF">2021-01-13T12:57:00Z</dcterms:created>
  <dcterms:modified xsi:type="dcterms:W3CDTF">2025-10-15T13:04:10Z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2052-10.1.0.5554</vt:lpwstr>
  </property>
</Properties>
</file>